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09118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F1F1F"/>
              </a:gs>
              <a:gs pos="55000">
                <a:srgbClr val="141414"/>
              </a:gs>
              <a:gs pos="100000">
                <a:srgbClr val="080808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418965" name="CurtainL"/>
          <p:cNvSpPr/>
          <p:nvPr/>
        </p:nvSpPr>
        <p:spPr>
          <a:xfrm>
            <a:off x="0" y="0"/>
            <a:ext cx="900000" cy="6858000"/>
          </a:xfrm>
          <a:prstGeom prst="rect">
            <a:avLst/>
          </a:prstGeom>
          <a:gradFill>
            <a:gsLst>
              <a:gs pos="0">
                <a:srgbClr val="5A1414"/>
              </a:gs>
              <a:gs pos="100000">
                <a:srgbClr val="0A0A0A"/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877496" name="CurtainR"/>
          <p:cNvSpPr/>
          <p:nvPr/>
        </p:nvSpPr>
        <p:spPr>
          <a:xfrm>
            <a:off x="11291695" y="0"/>
            <a:ext cx="900000" cy="6858000"/>
          </a:xfrm>
          <a:prstGeom prst="rect">
            <a:avLst/>
          </a:prstGeom>
          <a:gradFill>
            <a:gsLst>
              <a:gs pos="0">
                <a:srgbClr val="5A1414"/>
              </a:gs>
              <a:gs pos="100000">
                <a:srgbClr val="0A0A0A"/>
              </a:gs>
            </a:gsLst>
            <a:lin ang="108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432216" name="OjosHalo"/>
          <p:cNvSpPr/>
          <p:nvPr/>
        </p:nvSpPr>
        <p:spPr>
          <a:xfrm>
            <a:off x="9160000" y="4780000"/>
            <a:ext cx="1400000" cy="600000"/>
          </a:xfrm>
          <a:prstGeom prst="ellipse">
            <a:avLst/>
          </a:prstGeom>
          <a:solidFill>
            <a:srgbClr val="E8A317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35617" name="OjoI"/>
          <p:cNvSpPr/>
          <p:nvPr/>
        </p:nvSpPr>
        <p:spPr>
          <a:xfrm>
            <a:off x="9550000" y="4950000"/>
            <a:ext cx="220000" cy="14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0264" name="OjoD"/>
          <p:cNvSpPr/>
          <p:nvPr/>
        </p:nvSpPr>
        <p:spPr>
          <a:xfrm>
            <a:off x="9950000" y="4950000"/>
            <a:ext cx="220000" cy="14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788" name="VigTop"/>
          <p:cNvSpPr/>
          <p:nvPr/>
        </p:nvSpPr>
        <p:spPr>
          <a:xfrm>
            <a:off x="0" y="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873464" name="VigBot"/>
          <p:cNvSpPr/>
          <p:nvPr/>
        </p:nvSpPr>
        <p:spPr>
          <a:xfrm>
            <a:off x="0" y="535800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162483" name="VigL"/>
          <p:cNvSpPr/>
          <p:nvPr/>
        </p:nvSpPr>
        <p:spPr>
          <a:xfrm>
            <a:off x="0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66861" name="VigR"/>
          <p:cNvSpPr/>
          <p:nvPr/>
        </p:nvSpPr>
        <p:spPr>
          <a:xfrm>
            <a:off x="11091695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170432"/>
            <a:ext cx="9875520" cy="182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6E6E6"/>
                </a:solidFill>
                <a:latin typeface="Press Start 2P"/>
              </a:rPr>
              <a:t>Fazbear Pizza —</a:t>
            </a:r>
            <a:br/>
            <a:r>
              <a:rPr sz="2400" b="1" i="0">
                <a:solidFill>
                  <a:srgbClr val="E6E6E6"/>
                </a:solidFill>
                <a:latin typeface="Press Start 2P"/>
              </a:rPr>
              <a:t>Gestión operativa en PL/SQL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401568"/>
            <a:ext cx="7315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E8A317"/>
                </a:solidFill>
                <a:latin typeface="Press Start 2P"/>
              </a:rPr>
              <a:t>BDY1103  •  Sección 003D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4096512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6E6E6"/>
                </a:solidFill>
                <a:latin typeface="Press Start 2P"/>
              </a:rPr>
              <a:t>Vicente Placencia  •  Diego Díaz  •  Gabriel Vargas</a:t>
            </a:r>
          </a:p>
        </p:txBody>
      </p:sp>
      <p:sp>
        <p:nvSpPr>
          <p:cNvPr id="9100" name="Piso_910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01" name="Piso_9101"/>
          <p:cNvSpPr/>
          <p:nvPr/>
        </p:nvSpPr>
        <p:spPr>
          <a:xfrm>
            <a:off x="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02" name="Piso_9102"/>
          <p:cNvSpPr/>
          <p:nvPr/>
        </p:nvSpPr>
        <p:spPr>
          <a:xfrm>
            <a:off x="58521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03" name="Piso_9103"/>
          <p:cNvSpPr/>
          <p:nvPr/>
        </p:nvSpPr>
        <p:spPr>
          <a:xfrm>
            <a:off x="117043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04" name="Piso_9104"/>
          <p:cNvSpPr/>
          <p:nvPr/>
        </p:nvSpPr>
        <p:spPr>
          <a:xfrm>
            <a:off x="175564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05" name="Piso_9105"/>
          <p:cNvSpPr/>
          <p:nvPr/>
        </p:nvSpPr>
        <p:spPr>
          <a:xfrm>
            <a:off x="234086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06" name="Piso_9106"/>
          <p:cNvSpPr/>
          <p:nvPr/>
        </p:nvSpPr>
        <p:spPr>
          <a:xfrm>
            <a:off x="292608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07" name="Piso_9107"/>
          <p:cNvSpPr/>
          <p:nvPr/>
        </p:nvSpPr>
        <p:spPr>
          <a:xfrm>
            <a:off x="351129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08" name="Piso_9108"/>
          <p:cNvSpPr/>
          <p:nvPr/>
        </p:nvSpPr>
        <p:spPr>
          <a:xfrm>
            <a:off x="409651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09" name="Piso_9109"/>
          <p:cNvSpPr/>
          <p:nvPr/>
        </p:nvSpPr>
        <p:spPr>
          <a:xfrm>
            <a:off x="468172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10" name="Piso_9110"/>
          <p:cNvSpPr/>
          <p:nvPr/>
        </p:nvSpPr>
        <p:spPr>
          <a:xfrm>
            <a:off x="526694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11" name="Piso_9111"/>
          <p:cNvSpPr/>
          <p:nvPr/>
        </p:nvSpPr>
        <p:spPr>
          <a:xfrm>
            <a:off x="585216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12" name="Piso_9112"/>
          <p:cNvSpPr/>
          <p:nvPr/>
        </p:nvSpPr>
        <p:spPr>
          <a:xfrm>
            <a:off x="643737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13" name="Piso_9113"/>
          <p:cNvSpPr/>
          <p:nvPr/>
        </p:nvSpPr>
        <p:spPr>
          <a:xfrm>
            <a:off x="702259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14" name="Piso_9114"/>
          <p:cNvSpPr/>
          <p:nvPr/>
        </p:nvSpPr>
        <p:spPr>
          <a:xfrm>
            <a:off x="760780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15" name="Piso_9115"/>
          <p:cNvSpPr/>
          <p:nvPr/>
        </p:nvSpPr>
        <p:spPr>
          <a:xfrm>
            <a:off x="819302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16" name="Piso_9116"/>
          <p:cNvSpPr/>
          <p:nvPr/>
        </p:nvSpPr>
        <p:spPr>
          <a:xfrm>
            <a:off x="877824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17" name="Piso_9117"/>
          <p:cNvSpPr/>
          <p:nvPr/>
        </p:nvSpPr>
        <p:spPr>
          <a:xfrm>
            <a:off x="936345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18" name="Piso_9118"/>
          <p:cNvSpPr/>
          <p:nvPr/>
        </p:nvSpPr>
        <p:spPr>
          <a:xfrm>
            <a:off x="994867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19" name="Piso_9119"/>
          <p:cNvSpPr/>
          <p:nvPr/>
        </p:nvSpPr>
        <p:spPr>
          <a:xfrm>
            <a:off x="1053388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20" name="Piso_9120"/>
          <p:cNvSpPr/>
          <p:nvPr/>
        </p:nvSpPr>
        <p:spPr>
          <a:xfrm>
            <a:off x="1111910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121" name="Piso_9121"/>
          <p:cNvSpPr/>
          <p:nvPr/>
        </p:nvSpPr>
        <p:spPr>
          <a:xfrm>
            <a:off x="1170432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7686" name="Scan0"/>
          <p:cNvSpPr/>
          <p:nvPr/>
        </p:nvSpPr>
        <p:spPr>
          <a:xfrm>
            <a:off x="0" y="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03901" name="Scan1"/>
          <p:cNvSpPr/>
          <p:nvPr/>
        </p:nvSpPr>
        <p:spPr>
          <a:xfrm>
            <a:off x="0" y="6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15796" name="Scan2"/>
          <p:cNvSpPr/>
          <p:nvPr/>
        </p:nvSpPr>
        <p:spPr>
          <a:xfrm>
            <a:off x="0" y="12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62542" name="Scan3"/>
          <p:cNvSpPr/>
          <p:nvPr/>
        </p:nvSpPr>
        <p:spPr>
          <a:xfrm>
            <a:off x="0" y="18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81867" name="Scan4"/>
          <p:cNvSpPr/>
          <p:nvPr/>
        </p:nvSpPr>
        <p:spPr>
          <a:xfrm>
            <a:off x="0" y="24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67779" name="Scan5"/>
          <p:cNvSpPr/>
          <p:nvPr/>
        </p:nvSpPr>
        <p:spPr>
          <a:xfrm>
            <a:off x="0" y="31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69709" name="Scan6"/>
          <p:cNvSpPr/>
          <p:nvPr/>
        </p:nvSpPr>
        <p:spPr>
          <a:xfrm>
            <a:off x="0" y="37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08317" name="Scan7"/>
          <p:cNvSpPr/>
          <p:nvPr/>
        </p:nvSpPr>
        <p:spPr>
          <a:xfrm>
            <a:off x="0" y="43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7029" name="Scan8"/>
          <p:cNvSpPr/>
          <p:nvPr/>
        </p:nvSpPr>
        <p:spPr>
          <a:xfrm>
            <a:off x="0" y="49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46245" name="Scan9"/>
          <p:cNvSpPr/>
          <p:nvPr/>
        </p:nvSpPr>
        <p:spPr>
          <a:xfrm>
            <a:off x="0" y="55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95942" name="Scan10"/>
          <p:cNvSpPr/>
          <p:nvPr/>
        </p:nvSpPr>
        <p:spPr>
          <a:xfrm>
            <a:off x="0" y="62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09118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F1F1F"/>
              </a:gs>
              <a:gs pos="55000">
                <a:srgbClr val="141414"/>
              </a:gs>
              <a:gs pos="100000">
                <a:srgbClr val="080808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796788" name="VigTop"/>
          <p:cNvSpPr/>
          <p:nvPr/>
        </p:nvSpPr>
        <p:spPr>
          <a:xfrm>
            <a:off x="0" y="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873464" name="VigBot"/>
          <p:cNvSpPr/>
          <p:nvPr/>
        </p:nvSpPr>
        <p:spPr>
          <a:xfrm>
            <a:off x="0" y="535800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162483" name="VigL"/>
          <p:cNvSpPr/>
          <p:nvPr/>
        </p:nvSpPr>
        <p:spPr>
          <a:xfrm>
            <a:off x="0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66861" name="VigR"/>
          <p:cNvSpPr/>
          <p:nvPr/>
        </p:nvSpPr>
        <p:spPr>
          <a:xfrm>
            <a:off x="11091695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317"/>
                </a:solidFill>
                <a:latin typeface="Press Start 2P"/>
              </a:rPr>
              <a:t>01 ·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6E6E6"/>
                </a:solidFill>
                <a:latin typeface="Press Start 2P"/>
              </a:rPr>
              <a:t>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822960" cy="502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2918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02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10469880" cy="3520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2400"/>
              </a:spcAft>
            </a:pPr>
            <a:r>
              <a:rPr sz="3000" b="1">
                <a:solidFill>
                  <a:srgbClr val="E8A317"/>
                </a:solidFill>
                <a:latin typeface="VT323"/>
              </a:rPr>
              <a:t>•  </a:t>
            </a:r>
            <a:r>
              <a:rPr sz="3000">
                <a:solidFill>
                  <a:srgbClr val="E6E6E6"/>
                </a:solidFill>
                <a:latin typeface="VT323"/>
              </a:rPr>
              <a:t>No hay control centralizado de la operación</a:t>
            </a:r>
          </a:p>
          <a:p>
            <a:pPr>
              <a:spcAft>
                <a:spcPts val="2400"/>
              </a:spcAft>
            </a:pPr>
            <a:r>
              <a:rPr sz="3000" b="1">
                <a:solidFill>
                  <a:srgbClr val="E8A317"/>
                </a:solidFill>
                <a:latin typeface="VT323"/>
              </a:rPr>
              <a:t>•  </a:t>
            </a:r>
            <a:r>
              <a:rPr sz="3000">
                <a:solidFill>
                  <a:srgbClr val="E6E6E6"/>
                </a:solidFill>
                <a:latin typeface="VT323"/>
              </a:rPr>
              <a:t>Comandas fantasma y descuadres de inventario</a:t>
            </a:r>
          </a:p>
          <a:p>
            <a:pPr>
              <a:spcAft>
                <a:spcPts val="2400"/>
              </a:spcAft>
            </a:pPr>
            <a:r>
              <a:rPr sz="3000" b="1">
                <a:solidFill>
                  <a:srgbClr val="E8A317"/>
                </a:solidFill>
                <a:latin typeface="VT323"/>
              </a:rPr>
              <a:t>•  </a:t>
            </a:r>
            <a:r>
              <a:rPr sz="3000">
                <a:solidFill>
                  <a:srgbClr val="E6E6E6"/>
                </a:solidFill>
                <a:latin typeface="VT323"/>
              </a:rPr>
              <a:t>Cotización y arriendo de activos desordenados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77724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A9A9A"/>
                </a:solidFill>
                <a:latin typeface="VT323"/>
              </a:rPr>
              <a:t>FAZBEAR PIZZA  •  BDY1103  •  SECCIÓN 003D</a:t>
            </a:r>
          </a:p>
        </p:txBody>
      </p:sp>
      <p:sp>
        <p:nvSpPr>
          <p:cNvPr id="9200" name="Piso_920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01" name="Piso_9201"/>
          <p:cNvSpPr/>
          <p:nvPr/>
        </p:nvSpPr>
        <p:spPr>
          <a:xfrm>
            <a:off x="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02" name="Piso_9202"/>
          <p:cNvSpPr/>
          <p:nvPr/>
        </p:nvSpPr>
        <p:spPr>
          <a:xfrm>
            <a:off x="58521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03" name="Piso_9203"/>
          <p:cNvSpPr/>
          <p:nvPr/>
        </p:nvSpPr>
        <p:spPr>
          <a:xfrm>
            <a:off x="117043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04" name="Piso_9204"/>
          <p:cNvSpPr/>
          <p:nvPr/>
        </p:nvSpPr>
        <p:spPr>
          <a:xfrm>
            <a:off x="175564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05" name="Piso_9205"/>
          <p:cNvSpPr/>
          <p:nvPr/>
        </p:nvSpPr>
        <p:spPr>
          <a:xfrm>
            <a:off x="234086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06" name="Piso_9206"/>
          <p:cNvSpPr/>
          <p:nvPr/>
        </p:nvSpPr>
        <p:spPr>
          <a:xfrm>
            <a:off x="292608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07" name="Piso_9207"/>
          <p:cNvSpPr/>
          <p:nvPr/>
        </p:nvSpPr>
        <p:spPr>
          <a:xfrm>
            <a:off x="351129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08" name="Piso_9208"/>
          <p:cNvSpPr/>
          <p:nvPr/>
        </p:nvSpPr>
        <p:spPr>
          <a:xfrm>
            <a:off x="409651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09" name="Piso_9209"/>
          <p:cNvSpPr/>
          <p:nvPr/>
        </p:nvSpPr>
        <p:spPr>
          <a:xfrm>
            <a:off x="468172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10" name="Piso_9210"/>
          <p:cNvSpPr/>
          <p:nvPr/>
        </p:nvSpPr>
        <p:spPr>
          <a:xfrm>
            <a:off x="526694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11" name="Piso_9211"/>
          <p:cNvSpPr/>
          <p:nvPr/>
        </p:nvSpPr>
        <p:spPr>
          <a:xfrm>
            <a:off x="585216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12" name="Piso_9212"/>
          <p:cNvSpPr/>
          <p:nvPr/>
        </p:nvSpPr>
        <p:spPr>
          <a:xfrm>
            <a:off x="643737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13" name="Piso_9213"/>
          <p:cNvSpPr/>
          <p:nvPr/>
        </p:nvSpPr>
        <p:spPr>
          <a:xfrm>
            <a:off x="702259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14" name="Piso_9214"/>
          <p:cNvSpPr/>
          <p:nvPr/>
        </p:nvSpPr>
        <p:spPr>
          <a:xfrm>
            <a:off x="760780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15" name="Piso_9215"/>
          <p:cNvSpPr/>
          <p:nvPr/>
        </p:nvSpPr>
        <p:spPr>
          <a:xfrm>
            <a:off x="819302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16" name="Piso_9216"/>
          <p:cNvSpPr/>
          <p:nvPr/>
        </p:nvSpPr>
        <p:spPr>
          <a:xfrm>
            <a:off x="877824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17" name="Piso_9217"/>
          <p:cNvSpPr/>
          <p:nvPr/>
        </p:nvSpPr>
        <p:spPr>
          <a:xfrm>
            <a:off x="936345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18" name="Piso_9218"/>
          <p:cNvSpPr/>
          <p:nvPr/>
        </p:nvSpPr>
        <p:spPr>
          <a:xfrm>
            <a:off x="994867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19" name="Piso_9219"/>
          <p:cNvSpPr/>
          <p:nvPr/>
        </p:nvSpPr>
        <p:spPr>
          <a:xfrm>
            <a:off x="1053388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20" name="Piso_9220"/>
          <p:cNvSpPr/>
          <p:nvPr/>
        </p:nvSpPr>
        <p:spPr>
          <a:xfrm>
            <a:off x="1111910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221" name="Piso_9221"/>
          <p:cNvSpPr/>
          <p:nvPr/>
        </p:nvSpPr>
        <p:spPr>
          <a:xfrm>
            <a:off x="1170432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771" name="HUD_Cam"/>
          <p:cNvSpPr txBox="1"/>
          <p:nvPr/>
        </p:nvSpPr>
        <p:spPr>
          <a:xfrm>
            <a:off x="8009880" y="329184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E8A317"/>
                </a:solidFill>
                <a:latin typeface="Press Start 2P"/>
              </a:rPr>
              <a:t>CAM 01 · DINING AREA</a:t>
            </a:r>
          </a:p>
        </p:txBody>
      </p:sp>
      <p:sp>
        <p:nvSpPr>
          <p:cNvPr id="772" name="HUD_Rec"/>
          <p:cNvSpPr txBox="1"/>
          <p:nvPr/>
        </p:nvSpPr>
        <p:spPr>
          <a:xfrm>
            <a:off x="8600000" y="6510528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62828"/>
                </a:solidFill>
                <a:latin typeface="Press Start 2P"/>
              </a:rPr>
              <a:t>REC</a:t>
            </a:r>
            <a:r>
              <a:rPr sz="700" b="1" i="0">
                <a:solidFill>
                  <a:srgbClr val="E8A317"/>
                </a:solidFill>
                <a:latin typeface="Press Start 2P"/>
              </a:rPr>
              <a:t>   12:00 AM</a:t>
            </a:r>
          </a:p>
        </p:txBody>
      </p:sp>
      <p:sp>
        <p:nvSpPr>
          <p:cNvPr id="1082292" name="RecDot"/>
          <p:cNvSpPr/>
          <p:nvPr/>
        </p:nvSpPr>
        <p:spPr>
          <a:xfrm>
            <a:off x="10230000" y="6555000"/>
            <a:ext cx="110000" cy="1100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686" name="Scan0"/>
          <p:cNvSpPr/>
          <p:nvPr/>
        </p:nvSpPr>
        <p:spPr>
          <a:xfrm>
            <a:off x="0" y="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03901" name="Scan1"/>
          <p:cNvSpPr/>
          <p:nvPr/>
        </p:nvSpPr>
        <p:spPr>
          <a:xfrm>
            <a:off x="0" y="6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15796" name="Scan2"/>
          <p:cNvSpPr/>
          <p:nvPr/>
        </p:nvSpPr>
        <p:spPr>
          <a:xfrm>
            <a:off x="0" y="12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62542" name="Scan3"/>
          <p:cNvSpPr/>
          <p:nvPr/>
        </p:nvSpPr>
        <p:spPr>
          <a:xfrm>
            <a:off x="0" y="18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81867" name="Scan4"/>
          <p:cNvSpPr/>
          <p:nvPr/>
        </p:nvSpPr>
        <p:spPr>
          <a:xfrm>
            <a:off x="0" y="24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67779" name="Scan5"/>
          <p:cNvSpPr/>
          <p:nvPr/>
        </p:nvSpPr>
        <p:spPr>
          <a:xfrm>
            <a:off x="0" y="31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69709" name="Scan6"/>
          <p:cNvSpPr/>
          <p:nvPr/>
        </p:nvSpPr>
        <p:spPr>
          <a:xfrm>
            <a:off x="0" y="37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08317" name="Scan7"/>
          <p:cNvSpPr/>
          <p:nvPr/>
        </p:nvSpPr>
        <p:spPr>
          <a:xfrm>
            <a:off x="0" y="43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7029" name="Scan8"/>
          <p:cNvSpPr/>
          <p:nvPr/>
        </p:nvSpPr>
        <p:spPr>
          <a:xfrm>
            <a:off x="0" y="49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46245" name="Scan9"/>
          <p:cNvSpPr/>
          <p:nvPr/>
        </p:nvSpPr>
        <p:spPr>
          <a:xfrm>
            <a:off x="0" y="55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95942" name="Scan10"/>
          <p:cNvSpPr/>
          <p:nvPr/>
        </p:nvSpPr>
        <p:spPr>
          <a:xfrm>
            <a:off x="0" y="62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09118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F1F1F"/>
              </a:gs>
              <a:gs pos="55000">
                <a:srgbClr val="141414"/>
              </a:gs>
              <a:gs pos="100000">
                <a:srgbClr val="080808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796788" name="VigTop"/>
          <p:cNvSpPr/>
          <p:nvPr/>
        </p:nvSpPr>
        <p:spPr>
          <a:xfrm>
            <a:off x="0" y="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873464" name="VigBot"/>
          <p:cNvSpPr/>
          <p:nvPr/>
        </p:nvSpPr>
        <p:spPr>
          <a:xfrm>
            <a:off x="0" y="535800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162483" name="VigL"/>
          <p:cNvSpPr/>
          <p:nvPr/>
        </p:nvSpPr>
        <p:spPr>
          <a:xfrm>
            <a:off x="0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66861" name="VigR"/>
          <p:cNvSpPr/>
          <p:nvPr/>
        </p:nvSpPr>
        <p:spPr>
          <a:xfrm>
            <a:off x="11091695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317"/>
                </a:solidFill>
                <a:latin typeface="Press Start 2P"/>
              </a:rPr>
              <a:t>01 · CÓDIGO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6E6E6"/>
                </a:solidFill>
                <a:latin typeface="Press Start 2P"/>
              </a:rPr>
              <a:t>Un INSERT directo que nadie valida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822960" cy="502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2918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03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12064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8A317"/>
                </a:solidFill>
                <a:latin typeface="Press Start 2P"/>
              </a:rPr>
              <a:t>EJEMPLO DE LO QUE QUEREMOS EVITAR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10789920" cy="182880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4048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8992" y="24048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61872" y="24048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41F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313432"/>
            <a:ext cx="987552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9A9A9A"/>
                </a:solidFill>
                <a:latin typeface="Press Start 2P"/>
              </a:defRPr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SQL DIRECTO · SIN VALIDACIONES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700000"/>
            <a:ext cx="10314432" cy="10000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300"/>
              </a:spcAft>
              <a:defRPr sz="1900">
                <a:solidFill>
                  <a:srgbClr val="41FF7E"/>
                </a:solidFill>
                <a:latin typeface="VT323"/>
              </a:defRPr>
            </a:pPr>
            <a:r>
              <a:rPr sz="1900" b="0" i="0">
                <a:solidFill>
                  <a:srgbClr val="41FF7E"/>
                </a:solidFill>
                <a:latin typeface="VT323"/>
              </a:rPr>
              <a:t>INSERT INTO detalle_pedido (id_detalle_pedido, cantidad,</a:t>
            </a:r>
          </a:p>
          <a:p>
            <a:pPr>
              <a:spcAft>
                <a:spcPts val="300"/>
              </a:spcAft>
              <a:defRPr sz="1900">
                <a:solidFill>
                  <a:srgbClr val="41FF7E"/>
                </a:solidFill>
                <a:latin typeface="VT323"/>
              </a:defRPr>
            </a:pPr>
            <a:r>
              <a:rPr sz="1900" b="0" i="0">
                <a:solidFill>
                  <a:srgbClr val="41FF7E"/>
                </a:solidFill>
                <a:latin typeface="VT323"/>
              </a:rPr>
              <a:t>  precio_unitario, subtotal, id_pedido, id_producto)</a:t>
            </a:r>
          </a:p>
          <a:p>
            <a:pPr>
              <a:spcAft>
                <a:spcPts val="300"/>
              </a:spcAft>
              <a:defRPr sz="1900">
                <a:solidFill>
                  <a:srgbClr val="41FF7E"/>
                </a:solidFill>
                <a:latin typeface="VT323"/>
              </a:defRPr>
            </a:pPr>
            <a:r>
              <a:rPr sz="1900" b="0" i="0">
                <a:solidFill>
                  <a:srgbClr val="41FF7E"/>
                </a:solidFill>
                <a:latin typeface="VT323"/>
              </a:rPr>
              <a:t>VALUES (999, -5, 12000, -60000, 1, 1);   -- cantidad negativa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480560"/>
            <a:ext cx="10698480" cy="960120"/>
          </a:xfrm>
          <a:prstGeom prst="roundRect">
            <a:avLst>
              <a:gd name="adj" fmla="val 12000"/>
            </a:avLst>
          </a:prstGeom>
          <a:solidFill>
            <a:srgbClr val="0E0E0E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17720"/>
            <a:ext cx="1014984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E6E6E6"/>
                </a:solidFill>
                <a:latin typeface="VT323"/>
              </a:defRPr>
            </a:pPr>
            <a:r>
              <a:rPr sz="1800" b="1" i="0">
                <a:solidFill>
                  <a:srgbClr val="E6E6E6"/>
                </a:solidFill>
                <a:latin typeface="VT323"/>
              </a:rPr>
              <a:t>Por el package esto sale ORA-20006: “La cantidad debe ser mayor que cero”. A mano, entra igual.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77724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A9A9A"/>
                </a:solidFill>
                <a:latin typeface="VT323"/>
              </a:rPr>
              <a:t>FAZBEAR PIZZA  •  BDY1103  •  SECCIÓN 003D</a:t>
            </a:r>
          </a:p>
        </p:txBody>
      </p:sp>
      <p:sp>
        <p:nvSpPr>
          <p:cNvPr id="9300" name="Piso_930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01" name="Piso_9301"/>
          <p:cNvSpPr/>
          <p:nvPr/>
        </p:nvSpPr>
        <p:spPr>
          <a:xfrm>
            <a:off x="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02" name="Piso_9302"/>
          <p:cNvSpPr/>
          <p:nvPr/>
        </p:nvSpPr>
        <p:spPr>
          <a:xfrm>
            <a:off x="58521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03" name="Piso_9303"/>
          <p:cNvSpPr/>
          <p:nvPr/>
        </p:nvSpPr>
        <p:spPr>
          <a:xfrm>
            <a:off x="117043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04" name="Piso_9304"/>
          <p:cNvSpPr/>
          <p:nvPr/>
        </p:nvSpPr>
        <p:spPr>
          <a:xfrm>
            <a:off x="175564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05" name="Piso_9305"/>
          <p:cNvSpPr/>
          <p:nvPr/>
        </p:nvSpPr>
        <p:spPr>
          <a:xfrm>
            <a:off x="234086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06" name="Piso_9306"/>
          <p:cNvSpPr/>
          <p:nvPr/>
        </p:nvSpPr>
        <p:spPr>
          <a:xfrm>
            <a:off x="292608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07" name="Piso_9307"/>
          <p:cNvSpPr/>
          <p:nvPr/>
        </p:nvSpPr>
        <p:spPr>
          <a:xfrm>
            <a:off x="351129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08" name="Piso_9308"/>
          <p:cNvSpPr/>
          <p:nvPr/>
        </p:nvSpPr>
        <p:spPr>
          <a:xfrm>
            <a:off x="409651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09" name="Piso_9309"/>
          <p:cNvSpPr/>
          <p:nvPr/>
        </p:nvSpPr>
        <p:spPr>
          <a:xfrm>
            <a:off x="468172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10" name="Piso_9310"/>
          <p:cNvSpPr/>
          <p:nvPr/>
        </p:nvSpPr>
        <p:spPr>
          <a:xfrm>
            <a:off x="526694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11" name="Piso_9311"/>
          <p:cNvSpPr/>
          <p:nvPr/>
        </p:nvSpPr>
        <p:spPr>
          <a:xfrm>
            <a:off x="585216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12" name="Piso_9312"/>
          <p:cNvSpPr/>
          <p:nvPr/>
        </p:nvSpPr>
        <p:spPr>
          <a:xfrm>
            <a:off x="643737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13" name="Piso_9313"/>
          <p:cNvSpPr/>
          <p:nvPr/>
        </p:nvSpPr>
        <p:spPr>
          <a:xfrm>
            <a:off x="702259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14" name="Piso_9314"/>
          <p:cNvSpPr/>
          <p:nvPr/>
        </p:nvSpPr>
        <p:spPr>
          <a:xfrm>
            <a:off x="760780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15" name="Piso_9315"/>
          <p:cNvSpPr/>
          <p:nvPr/>
        </p:nvSpPr>
        <p:spPr>
          <a:xfrm>
            <a:off x="819302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16" name="Piso_9316"/>
          <p:cNvSpPr/>
          <p:nvPr/>
        </p:nvSpPr>
        <p:spPr>
          <a:xfrm>
            <a:off x="877824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17" name="Piso_9317"/>
          <p:cNvSpPr/>
          <p:nvPr/>
        </p:nvSpPr>
        <p:spPr>
          <a:xfrm>
            <a:off x="936345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18" name="Piso_9318"/>
          <p:cNvSpPr/>
          <p:nvPr/>
        </p:nvSpPr>
        <p:spPr>
          <a:xfrm>
            <a:off x="994867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19" name="Piso_9319"/>
          <p:cNvSpPr/>
          <p:nvPr/>
        </p:nvSpPr>
        <p:spPr>
          <a:xfrm>
            <a:off x="1053388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20" name="Piso_9320"/>
          <p:cNvSpPr/>
          <p:nvPr/>
        </p:nvSpPr>
        <p:spPr>
          <a:xfrm>
            <a:off x="1111910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321" name="Piso_9321"/>
          <p:cNvSpPr/>
          <p:nvPr/>
        </p:nvSpPr>
        <p:spPr>
          <a:xfrm>
            <a:off x="1170432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771" name="HUD_Cam"/>
          <p:cNvSpPr txBox="1"/>
          <p:nvPr/>
        </p:nvSpPr>
        <p:spPr>
          <a:xfrm>
            <a:off x="8009880" y="329184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E8A317"/>
                </a:solidFill>
                <a:latin typeface="Press Start 2P"/>
              </a:rPr>
              <a:t>CAM 02 · SUPPLY CLOSET</a:t>
            </a:r>
          </a:p>
        </p:txBody>
      </p:sp>
      <p:sp>
        <p:nvSpPr>
          <p:cNvPr id="772" name="HUD_Rec"/>
          <p:cNvSpPr txBox="1"/>
          <p:nvPr/>
        </p:nvSpPr>
        <p:spPr>
          <a:xfrm>
            <a:off x="8600000" y="6510528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62828"/>
                </a:solidFill>
                <a:latin typeface="Press Start 2P"/>
              </a:rPr>
              <a:t>REC</a:t>
            </a:r>
            <a:r>
              <a:rPr sz="700" b="1" i="0">
                <a:solidFill>
                  <a:srgbClr val="E8A317"/>
                </a:solidFill>
                <a:latin typeface="Press Start 2P"/>
              </a:rPr>
              <a:t>   12:00 AM</a:t>
            </a:r>
          </a:p>
        </p:txBody>
      </p:sp>
      <p:sp>
        <p:nvSpPr>
          <p:cNvPr id="1082292" name="RecDot"/>
          <p:cNvSpPr/>
          <p:nvPr/>
        </p:nvSpPr>
        <p:spPr>
          <a:xfrm>
            <a:off x="10230000" y="6555000"/>
            <a:ext cx="110000" cy="1100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686" name="Scan0"/>
          <p:cNvSpPr/>
          <p:nvPr/>
        </p:nvSpPr>
        <p:spPr>
          <a:xfrm>
            <a:off x="0" y="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03901" name="Scan1"/>
          <p:cNvSpPr/>
          <p:nvPr/>
        </p:nvSpPr>
        <p:spPr>
          <a:xfrm>
            <a:off x="0" y="6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15796" name="Scan2"/>
          <p:cNvSpPr/>
          <p:nvPr/>
        </p:nvSpPr>
        <p:spPr>
          <a:xfrm>
            <a:off x="0" y="12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62542" name="Scan3"/>
          <p:cNvSpPr/>
          <p:nvPr/>
        </p:nvSpPr>
        <p:spPr>
          <a:xfrm>
            <a:off x="0" y="18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81867" name="Scan4"/>
          <p:cNvSpPr/>
          <p:nvPr/>
        </p:nvSpPr>
        <p:spPr>
          <a:xfrm>
            <a:off x="0" y="24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67779" name="Scan5"/>
          <p:cNvSpPr/>
          <p:nvPr/>
        </p:nvSpPr>
        <p:spPr>
          <a:xfrm>
            <a:off x="0" y="31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69709" name="Scan6"/>
          <p:cNvSpPr/>
          <p:nvPr/>
        </p:nvSpPr>
        <p:spPr>
          <a:xfrm>
            <a:off x="0" y="37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08317" name="Scan7"/>
          <p:cNvSpPr/>
          <p:nvPr/>
        </p:nvSpPr>
        <p:spPr>
          <a:xfrm>
            <a:off x="0" y="43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7029" name="Scan8"/>
          <p:cNvSpPr/>
          <p:nvPr/>
        </p:nvSpPr>
        <p:spPr>
          <a:xfrm>
            <a:off x="0" y="49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46245" name="Scan9"/>
          <p:cNvSpPr/>
          <p:nvPr/>
        </p:nvSpPr>
        <p:spPr>
          <a:xfrm>
            <a:off x="0" y="55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95942" name="Scan10"/>
          <p:cNvSpPr/>
          <p:nvPr/>
        </p:nvSpPr>
        <p:spPr>
          <a:xfrm>
            <a:off x="0" y="62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09118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F1F1F"/>
              </a:gs>
              <a:gs pos="55000">
                <a:srgbClr val="141414"/>
              </a:gs>
              <a:gs pos="100000">
                <a:srgbClr val="080808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796788" name="VigTop"/>
          <p:cNvSpPr/>
          <p:nvPr/>
        </p:nvSpPr>
        <p:spPr>
          <a:xfrm>
            <a:off x="0" y="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873464" name="VigBot"/>
          <p:cNvSpPr/>
          <p:nvPr/>
        </p:nvSpPr>
        <p:spPr>
          <a:xfrm>
            <a:off x="0" y="535800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162483" name="VigL"/>
          <p:cNvSpPr/>
          <p:nvPr/>
        </p:nvSpPr>
        <p:spPr>
          <a:xfrm>
            <a:off x="0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66861" name="VigR"/>
          <p:cNvSpPr/>
          <p:nvPr/>
        </p:nvSpPr>
        <p:spPr>
          <a:xfrm>
            <a:off x="11091695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317"/>
                </a:solidFill>
                <a:latin typeface="Press Start 2P"/>
              </a:rPr>
              <a:t>02 · OBJETOS PL/SQL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6E6E6"/>
                </a:solidFill>
                <a:latin typeface="Press Start 2P"/>
              </a:rPr>
              <a:t>Procedimientos y funciones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822960" cy="502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2918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3246120" cy="246888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221992"/>
            <a:ext cx="502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62828"/>
                </a:solidFill>
                <a:latin typeface="Press Start 2P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97480"/>
            <a:ext cx="283464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E6E6E6"/>
                </a:solidFill>
                <a:latin typeface="VT323"/>
              </a:rPr>
              <a:t>SP_LIQUIDAR_MES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566160"/>
            <a:ext cx="28346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9A9A9A"/>
                </a:solidFill>
                <a:latin typeface="VT323"/>
              </a:rPr>
              <a:t>Total mensual</a:t>
            </a:r>
            <a:br/>
            <a:r>
              <a:rPr sz="2000" b="0" i="0">
                <a:solidFill>
                  <a:srgbClr val="9A9A9A"/>
                </a:solidFill>
                <a:latin typeface="VT323"/>
              </a:rPr>
              <a:t>Con parámetros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087" y="2011680"/>
            <a:ext cx="3246120" cy="246888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4255" y="2221992"/>
            <a:ext cx="502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E8A317"/>
                </a:solidFill>
                <a:latin typeface="Press Start 2P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4255" y="2697480"/>
            <a:ext cx="283464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E6E6E6"/>
                </a:solidFill>
                <a:latin typeface="VT323"/>
              </a:rPr>
              <a:t>SP_REVISAR_STOCK_CRITICO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5" y="3566160"/>
            <a:ext cx="28346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9A9A9A"/>
                </a:solidFill>
                <a:latin typeface="VT323"/>
              </a:rPr>
              <a:t>Revisa todo el stock</a:t>
            </a:r>
            <a:br/>
            <a:r>
              <a:rPr sz="2000" b="0" i="0">
                <a:solidFill>
                  <a:srgbClr val="9A9A9A"/>
                </a:solidFill>
                <a:latin typeface="VT323"/>
              </a:rPr>
              <a:t>Sin parámetros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0375" y="2011680"/>
            <a:ext cx="3246120" cy="246888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81544" y="2221992"/>
            <a:ext cx="50292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62828"/>
                </a:solidFill>
                <a:latin typeface="Press Start 2P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2697480"/>
            <a:ext cx="283464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E6E6E6"/>
                </a:solidFill>
                <a:latin typeface="VT323"/>
              </a:rPr>
              <a:t>FN_CALCULAR_DESCUENTO</a:t>
            </a:r>
            <a:br/>
            <a:r>
              <a:rPr sz="2100" b="1" i="0">
                <a:solidFill>
                  <a:srgbClr val="E6E6E6"/>
                </a:solidFill>
                <a:latin typeface="VT323"/>
              </a:rPr>
              <a:t>FN_TOTAL_VENTAS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3566160"/>
            <a:ext cx="283464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9A9A9A"/>
                </a:solidFill>
                <a:latin typeface="VT323"/>
              </a:rPr>
              <a:t>Devuelven valores</a:t>
            </a:r>
            <a:br/>
            <a:r>
              <a:rPr sz="2000" b="0" i="0">
                <a:solidFill>
                  <a:srgbClr val="9A9A9A"/>
                </a:solidFill>
                <a:latin typeface="VT323"/>
              </a:rPr>
              <a:t>Se usan desde 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E8A317"/>
                </a:solidFill>
                <a:latin typeface="VT323"/>
              </a:rPr>
              <a:t>Procedimiento = ejecuta una tarea   •   Función = devuelve un valor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510528"/>
            <a:ext cx="77724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A9A9A"/>
                </a:solidFill>
                <a:latin typeface="VT323"/>
              </a:rPr>
              <a:t>FAZBEAR PIZZA  •  BDY1103  •  SECCIÓN 003D</a:t>
            </a:r>
          </a:p>
        </p:txBody>
      </p:sp>
      <p:sp>
        <p:nvSpPr>
          <p:cNvPr id="9400" name="Piso_940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01" name="Piso_9401"/>
          <p:cNvSpPr/>
          <p:nvPr/>
        </p:nvSpPr>
        <p:spPr>
          <a:xfrm>
            <a:off x="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02" name="Piso_9402"/>
          <p:cNvSpPr/>
          <p:nvPr/>
        </p:nvSpPr>
        <p:spPr>
          <a:xfrm>
            <a:off x="58521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03" name="Piso_9403"/>
          <p:cNvSpPr/>
          <p:nvPr/>
        </p:nvSpPr>
        <p:spPr>
          <a:xfrm>
            <a:off x="117043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04" name="Piso_9404"/>
          <p:cNvSpPr/>
          <p:nvPr/>
        </p:nvSpPr>
        <p:spPr>
          <a:xfrm>
            <a:off x="175564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05" name="Piso_9405"/>
          <p:cNvSpPr/>
          <p:nvPr/>
        </p:nvSpPr>
        <p:spPr>
          <a:xfrm>
            <a:off x="234086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06" name="Piso_9406"/>
          <p:cNvSpPr/>
          <p:nvPr/>
        </p:nvSpPr>
        <p:spPr>
          <a:xfrm>
            <a:off x="292608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07" name="Piso_9407"/>
          <p:cNvSpPr/>
          <p:nvPr/>
        </p:nvSpPr>
        <p:spPr>
          <a:xfrm>
            <a:off x="351129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08" name="Piso_9408"/>
          <p:cNvSpPr/>
          <p:nvPr/>
        </p:nvSpPr>
        <p:spPr>
          <a:xfrm>
            <a:off x="409651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09" name="Piso_9409"/>
          <p:cNvSpPr/>
          <p:nvPr/>
        </p:nvSpPr>
        <p:spPr>
          <a:xfrm>
            <a:off x="468172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10" name="Piso_9410"/>
          <p:cNvSpPr/>
          <p:nvPr/>
        </p:nvSpPr>
        <p:spPr>
          <a:xfrm>
            <a:off x="526694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11" name="Piso_9411"/>
          <p:cNvSpPr/>
          <p:nvPr/>
        </p:nvSpPr>
        <p:spPr>
          <a:xfrm>
            <a:off x="585216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12" name="Piso_9412"/>
          <p:cNvSpPr/>
          <p:nvPr/>
        </p:nvSpPr>
        <p:spPr>
          <a:xfrm>
            <a:off x="643737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13" name="Piso_9413"/>
          <p:cNvSpPr/>
          <p:nvPr/>
        </p:nvSpPr>
        <p:spPr>
          <a:xfrm>
            <a:off x="702259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14" name="Piso_9414"/>
          <p:cNvSpPr/>
          <p:nvPr/>
        </p:nvSpPr>
        <p:spPr>
          <a:xfrm>
            <a:off x="760780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15" name="Piso_9415"/>
          <p:cNvSpPr/>
          <p:nvPr/>
        </p:nvSpPr>
        <p:spPr>
          <a:xfrm>
            <a:off x="819302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16" name="Piso_9416"/>
          <p:cNvSpPr/>
          <p:nvPr/>
        </p:nvSpPr>
        <p:spPr>
          <a:xfrm>
            <a:off x="877824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17" name="Piso_9417"/>
          <p:cNvSpPr/>
          <p:nvPr/>
        </p:nvSpPr>
        <p:spPr>
          <a:xfrm>
            <a:off x="936345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18" name="Piso_9418"/>
          <p:cNvSpPr/>
          <p:nvPr/>
        </p:nvSpPr>
        <p:spPr>
          <a:xfrm>
            <a:off x="994867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19" name="Piso_9419"/>
          <p:cNvSpPr/>
          <p:nvPr/>
        </p:nvSpPr>
        <p:spPr>
          <a:xfrm>
            <a:off x="1053388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20" name="Piso_9420"/>
          <p:cNvSpPr/>
          <p:nvPr/>
        </p:nvSpPr>
        <p:spPr>
          <a:xfrm>
            <a:off x="1111910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421" name="Piso_9421"/>
          <p:cNvSpPr/>
          <p:nvPr/>
        </p:nvSpPr>
        <p:spPr>
          <a:xfrm>
            <a:off x="1170432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771" name="HUD_Cam"/>
          <p:cNvSpPr txBox="1"/>
          <p:nvPr/>
        </p:nvSpPr>
        <p:spPr>
          <a:xfrm>
            <a:off x="8009880" y="329184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E8A317"/>
                </a:solidFill>
                <a:latin typeface="Press Start 2P"/>
              </a:rPr>
              <a:t>CAM 03 · BACKSTAGE</a:t>
            </a:r>
          </a:p>
        </p:txBody>
      </p:sp>
      <p:sp>
        <p:nvSpPr>
          <p:cNvPr id="772" name="HUD_Rec"/>
          <p:cNvSpPr txBox="1"/>
          <p:nvPr/>
        </p:nvSpPr>
        <p:spPr>
          <a:xfrm>
            <a:off x="8600000" y="6510528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62828"/>
                </a:solidFill>
                <a:latin typeface="Press Start 2P"/>
              </a:rPr>
              <a:t>REC</a:t>
            </a:r>
            <a:r>
              <a:rPr sz="700" b="1" i="0">
                <a:solidFill>
                  <a:srgbClr val="E8A317"/>
                </a:solidFill>
                <a:latin typeface="Press Start 2P"/>
              </a:rPr>
              <a:t>   12:00 AM</a:t>
            </a:r>
          </a:p>
        </p:txBody>
      </p:sp>
      <p:sp>
        <p:nvSpPr>
          <p:cNvPr id="1082292" name="RecDot"/>
          <p:cNvSpPr/>
          <p:nvPr/>
        </p:nvSpPr>
        <p:spPr>
          <a:xfrm>
            <a:off x="10230000" y="6555000"/>
            <a:ext cx="110000" cy="1100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686" name="Scan0"/>
          <p:cNvSpPr/>
          <p:nvPr/>
        </p:nvSpPr>
        <p:spPr>
          <a:xfrm>
            <a:off x="0" y="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03901" name="Scan1"/>
          <p:cNvSpPr/>
          <p:nvPr/>
        </p:nvSpPr>
        <p:spPr>
          <a:xfrm>
            <a:off x="0" y="6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15796" name="Scan2"/>
          <p:cNvSpPr/>
          <p:nvPr/>
        </p:nvSpPr>
        <p:spPr>
          <a:xfrm>
            <a:off x="0" y="12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62542" name="Scan3"/>
          <p:cNvSpPr/>
          <p:nvPr/>
        </p:nvSpPr>
        <p:spPr>
          <a:xfrm>
            <a:off x="0" y="18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81867" name="Scan4"/>
          <p:cNvSpPr/>
          <p:nvPr/>
        </p:nvSpPr>
        <p:spPr>
          <a:xfrm>
            <a:off x="0" y="24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67779" name="Scan5"/>
          <p:cNvSpPr/>
          <p:nvPr/>
        </p:nvSpPr>
        <p:spPr>
          <a:xfrm>
            <a:off x="0" y="31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69709" name="Scan6"/>
          <p:cNvSpPr/>
          <p:nvPr/>
        </p:nvSpPr>
        <p:spPr>
          <a:xfrm>
            <a:off x="0" y="37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08317" name="Scan7"/>
          <p:cNvSpPr/>
          <p:nvPr/>
        </p:nvSpPr>
        <p:spPr>
          <a:xfrm>
            <a:off x="0" y="43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7029" name="Scan8"/>
          <p:cNvSpPr/>
          <p:nvPr/>
        </p:nvSpPr>
        <p:spPr>
          <a:xfrm>
            <a:off x="0" y="49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46245" name="Scan9"/>
          <p:cNvSpPr/>
          <p:nvPr/>
        </p:nvSpPr>
        <p:spPr>
          <a:xfrm>
            <a:off x="0" y="55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95942" name="Scan10"/>
          <p:cNvSpPr/>
          <p:nvPr/>
        </p:nvSpPr>
        <p:spPr>
          <a:xfrm>
            <a:off x="0" y="62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09118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F1F1F"/>
              </a:gs>
              <a:gs pos="55000">
                <a:srgbClr val="141414"/>
              </a:gs>
              <a:gs pos="100000">
                <a:srgbClr val="080808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796788" name="VigTop"/>
          <p:cNvSpPr/>
          <p:nvPr/>
        </p:nvSpPr>
        <p:spPr>
          <a:xfrm>
            <a:off x="0" y="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873464" name="VigBot"/>
          <p:cNvSpPr/>
          <p:nvPr/>
        </p:nvSpPr>
        <p:spPr>
          <a:xfrm>
            <a:off x="0" y="535800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162483" name="VigL"/>
          <p:cNvSpPr/>
          <p:nvPr/>
        </p:nvSpPr>
        <p:spPr>
          <a:xfrm>
            <a:off x="0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66861" name="VigR"/>
          <p:cNvSpPr/>
          <p:nvPr/>
        </p:nvSpPr>
        <p:spPr>
          <a:xfrm>
            <a:off x="11091695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317"/>
                </a:solidFill>
                <a:latin typeface="Press Start 2P"/>
              </a:rPr>
              <a:t>02 · CÓDIGO + SALIDA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6E6E6"/>
                </a:solidFill>
                <a:latin typeface="Press Start 2P"/>
              </a:rPr>
              <a:t>SP_LIQUIDAR_MES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822960" cy="502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2918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6400800" cy="301752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99339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8992" y="199339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61872" y="199339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41F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901952"/>
            <a:ext cx="54864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FIRMA DEL PROCEDIMIENTO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13432"/>
            <a:ext cx="5925312" cy="2395727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2300">
                <a:solidFill>
                  <a:srgbClr val="41FF7E"/>
                </a:solidFill>
                <a:latin typeface="VT323"/>
              </a:defRPr>
            </a:pPr>
            <a:r>
              <a:rPr sz="2300">
                <a:solidFill>
                  <a:srgbClr val="41FF7E"/>
                </a:solidFill>
                <a:latin typeface="VT323"/>
              </a:rPr>
              <a:t>PROCEDURE SP_LIQUIDAR_MES (</a:t>
            </a:r>
          </a:p>
          <a:p>
            <a:pPr>
              <a:spcAft>
                <a:spcPts val="500"/>
              </a:spcAft>
              <a:defRPr sz="2300">
                <a:solidFill>
                  <a:srgbClr val="41FF7E"/>
                </a:solidFill>
                <a:latin typeface="VT323"/>
              </a:defRPr>
            </a:pPr>
            <a:r>
              <a:rPr sz="2300">
                <a:solidFill>
                  <a:srgbClr val="41FF7E"/>
                </a:solidFill>
                <a:latin typeface="VT323"/>
              </a:rPr>
              <a:t>  p_mes   IN NUMBER,</a:t>
            </a:r>
          </a:p>
          <a:p>
            <a:pPr>
              <a:spcAft>
                <a:spcPts val="500"/>
              </a:spcAft>
              <a:defRPr sz="2300">
                <a:solidFill>
                  <a:srgbClr val="41FF7E"/>
                </a:solidFill>
                <a:latin typeface="VT323"/>
              </a:defRPr>
            </a:pPr>
            <a:r>
              <a:rPr sz="2300">
                <a:solidFill>
                  <a:srgbClr val="41FF7E"/>
                </a:solidFill>
                <a:latin typeface="VT323"/>
              </a:rPr>
              <a:t>  p_anio  IN NUMBER,</a:t>
            </a:r>
          </a:p>
          <a:p>
            <a:pPr>
              <a:spcAft>
                <a:spcPts val="500"/>
              </a:spcAft>
              <a:defRPr sz="2300">
                <a:solidFill>
                  <a:srgbClr val="41FF7E"/>
                </a:solidFill>
                <a:latin typeface="VT323"/>
              </a:defRPr>
            </a:pPr>
            <a:r>
              <a:rPr sz="2300">
                <a:solidFill>
                  <a:srgbClr val="41FF7E"/>
                </a:solidFill>
                <a:latin typeface="VT323"/>
              </a:rPr>
              <a:t>  p_total OUT NUMBER</a:t>
            </a:r>
          </a:p>
          <a:p>
            <a:pPr>
              <a:spcAft>
                <a:spcPts val="500"/>
              </a:spcAft>
              <a:defRPr sz="2300">
                <a:solidFill>
                  <a:srgbClr val="41FF7E"/>
                </a:solidFill>
                <a:latin typeface="VT323"/>
              </a:defRPr>
            </a:pPr>
            <a:r>
              <a:rPr sz="2300">
                <a:solidFill>
                  <a:srgbClr val="41FF7E"/>
                </a:solidFill>
                <a:latin typeface="VT323"/>
              </a:rPr>
              <a:t>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3886200" cy="3017520"/>
          </a:xfrm>
          <a:prstGeom prst="roundRect">
            <a:avLst>
              <a:gd name="adj" fmla="val 12000"/>
            </a:avLst>
          </a:prstGeom>
          <a:solidFill>
            <a:srgbClr val="0E0E0E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2148840"/>
            <a:ext cx="3200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317"/>
                </a:solidFill>
                <a:latin typeface="Press Start 2P"/>
              </a:rPr>
              <a:t>PRUEBA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606040"/>
            <a:ext cx="3200400" cy="868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E6E6E6"/>
                </a:solidFill>
                <a:latin typeface="VT323"/>
              </a:rPr>
              <a:t>Total vendido</a:t>
            </a:r>
            <a:br/>
            <a:r>
              <a:rPr sz="2400" b="1" i="0">
                <a:solidFill>
                  <a:srgbClr val="E6E6E6"/>
                </a:solidFill>
                <a:latin typeface="VT323"/>
              </a:rPr>
              <a:t>sep.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611880"/>
            <a:ext cx="31089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41FF7E"/>
                </a:solidFill>
                <a:latin typeface="Press Start 2P"/>
              </a:rPr>
              <a:t>$12.000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6E6E6"/>
                </a:solidFill>
                <a:latin typeface="VT323"/>
              </a:rPr>
              <a:t>Recibe mes y año, devuelve el total y ya lo probamos.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77724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A9A9A"/>
                </a:solidFill>
                <a:latin typeface="VT323"/>
              </a:rPr>
              <a:t>FAZBEAR PIZZA  •  BDY1103  •  SECCIÓN 003D</a:t>
            </a:r>
          </a:p>
        </p:txBody>
      </p:sp>
      <p:sp>
        <p:nvSpPr>
          <p:cNvPr id="9500" name="Piso_950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01" name="Piso_9501"/>
          <p:cNvSpPr/>
          <p:nvPr/>
        </p:nvSpPr>
        <p:spPr>
          <a:xfrm>
            <a:off x="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02" name="Piso_9502"/>
          <p:cNvSpPr/>
          <p:nvPr/>
        </p:nvSpPr>
        <p:spPr>
          <a:xfrm>
            <a:off x="58521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03" name="Piso_9503"/>
          <p:cNvSpPr/>
          <p:nvPr/>
        </p:nvSpPr>
        <p:spPr>
          <a:xfrm>
            <a:off x="117043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04" name="Piso_9504"/>
          <p:cNvSpPr/>
          <p:nvPr/>
        </p:nvSpPr>
        <p:spPr>
          <a:xfrm>
            <a:off x="175564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05" name="Piso_9505"/>
          <p:cNvSpPr/>
          <p:nvPr/>
        </p:nvSpPr>
        <p:spPr>
          <a:xfrm>
            <a:off x="234086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06" name="Piso_9506"/>
          <p:cNvSpPr/>
          <p:nvPr/>
        </p:nvSpPr>
        <p:spPr>
          <a:xfrm>
            <a:off x="292608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07" name="Piso_9507"/>
          <p:cNvSpPr/>
          <p:nvPr/>
        </p:nvSpPr>
        <p:spPr>
          <a:xfrm>
            <a:off x="351129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08" name="Piso_9508"/>
          <p:cNvSpPr/>
          <p:nvPr/>
        </p:nvSpPr>
        <p:spPr>
          <a:xfrm>
            <a:off x="409651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09" name="Piso_9509"/>
          <p:cNvSpPr/>
          <p:nvPr/>
        </p:nvSpPr>
        <p:spPr>
          <a:xfrm>
            <a:off x="468172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10" name="Piso_9510"/>
          <p:cNvSpPr/>
          <p:nvPr/>
        </p:nvSpPr>
        <p:spPr>
          <a:xfrm>
            <a:off x="526694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11" name="Piso_9511"/>
          <p:cNvSpPr/>
          <p:nvPr/>
        </p:nvSpPr>
        <p:spPr>
          <a:xfrm>
            <a:off x="585216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12" name="Piso_9512"/>
          <p:cNvSpPr/>
          <p:nvPr/>
        </p:nvSpPr>
        <p:spPr>
          <a:xfrm>
            <a:off x="643737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13" name="Piso_9513"/>
          <p:cNvSpPr/>
          <p:nvPr/>
        </p:nvSpPr>
        <p:spPr>
          <a:xfrm>
            <a:off x="702259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14" name="Piso_9514"/>
          <p:cNvSpPr/>
          <p:nvPr/>
        </p:nvSpPr>
        <p:spPr>
          <a:xfrm>
            <a:off x="760780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15" name="Piso_9515"/>
          <p:cNvSpPr/>
          <p:nvPr/>
        </p:nvSpPr>
        <p:spPr>
          <a:xfrm>
            <a:off x="819302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16" name="Piso_9516"/>
          <p:cNvSpPr/>
          <p:nvPr/>
        </p:nvSpPr>
        <p:spPr>
          <a:xfrm>
            <a:off x="877824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17" name="Piso_9517"/>
          <p:cNvSpPr/>
          <p:nvPr/>
        </p:nvSpPr>
        <p:spPr>
          <a:xfrm>
            <a:off x="936345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18" name="Piso_9518"/>
          <p:cNvSpPr/>
          <p:nvPr/>
        </p:nvSpPr>
        <p:spPr>
          <a:xfrm>
            <a:off x="994867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19" name="Piso_9519"/>
          <p:cNvSpPr/>
          <p:nvPr/>
        </p:nvSpPr>
        <p:spPr>
          <a:xfrm>
            <a:off x="1053388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20" name="Piso_9520"/>
          <p:cNvSpPr/>
          <p:nvPr/>
        </p:nvSpPr>
        <p:spPr>
          <a:xfrm>
            <a:off x="1111910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521" name="Piso_9521"/>
          <p:cNvSpPr/>
          <p:nvPr/>
        </p:nvSpPr>
        <p:spPr>
          <a:xfrm>
            <a:off x="1170432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771" name="HUD_Cam"/>
          <p:cNvSpPr txBox="1"/>
          <p:nvPr/>
        </p:nvSpPr>
        <p:spPr>
          <a:xfrm>
            <a:off x="8009880" y="329184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E8A317"/>
                </a:solidFill>
                <a:latin typeface="Press Start 2P"/>
              </a:rPr>
              <a:t>CAM 04 · KITCHEN</a:t>
            </a:r>
          </a:p>
        </p:txBody>
      </p:sp>
      <p:sp>
        <p:nvSpPr>
          <p:cNvPr id="772" name="HUD_Rec"/>
          <p:cNvSpPr txBox="1"/>
          <p:nvPr/>
        </p:nvSpPr>
        <p:spPr>
          <a:xfrm>
            <a:off x="8600000" y="6510528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62828"/>
                </a:solidFill>
                <a:latin typeface="Press Start 2P"/>
              </a:rPr>
              <a:t>REC</a:t>
            </a:r>
            <a:r>
              <a:rPr sz="700" b="1" i="0">
                <a:solidFill>
                  <a:srgbClr val="E8A317"/>
                </a:solidFill>
                <a:latin typeface="Press Start 2P"/>
              </a:rPr>
              <a:t>   12:00 AM</a:t>
            </a:r>
          </a:p>
        </p:txBody>
      </p:sp>
      <p:sp>
        <p:nvSpPr>
          <p:cNvPr id="1082292" name="RecDot"/>
          <p:cNvSpPr/>
          <p:nvPr/>
        </p:nvSpPr>
        <p:spPr>
          <a:xfrm>
            <a:off x="10230000" y="6555000"/>
            <a:ext cx="110000" cy="1100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686" name="Scan0"/>
          <p:cNvSpPr/>
          <p:nvPr/>
        </p:nvSpPr>
        <p:spPr>
          <a:xfrm>
            <a:off x="0" y="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03901" name="Scan1"/>
          <p:cNvSpPr/>
          <p:nvPr/>
        </p:nvSpPr>
        <p:spPr>
          <a:xfrm>
            <a:off x="0" y="6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15796" name="Scan2"/>
          <p:cNvSpPr/>
          <p:nvPr/>
        </p:nvSpPr>
        <p:spPr>
          <a:xfrm>
            <a:off x="0" y="12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62542" name="Scan3"/>
          <p:cNvSpPr/>
          <p:nvPr/>
        </p:nvSpPr>
        <p:spPr>
          <a:xfrm>
            <a:off x="0" y="18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81867" name="Scan4"/>
          <p:cNvSpPr/>
          <p:nvPr/>
        </p:nvSpPr>
        <p:spPr>
          <a:xfrm>
            <a:off x="0" y="24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67779" name="Scan5"/>
          <p:cNvSpPr/>
          <p:nvPr/>
        </p:nvSpPr>
        <p:spPr>
          <a:xfrm>
            <a:off x="0" y="31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69709" name="Scan6"/>
          <p:cNvSpPr/>
          <p:nvPr/>
        </p:nvSpPr>
        <p:spPr>
          <a:xfrm>
            <a:off x="0" y="37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08317" name="Scan7"/>
          <p:cNvSpPr/>
          <p:nvPr/>
        </p:nvSpPr>
        <p:spPr>
          <a:xfrm>
            <a:off x="0" y="43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7029" name="Scan8"/>
          <p:cNvSpPr/>
          <p:nvPr/>
        </p:nvSpPr>
        <p:spPr>
          <a:xfrm>
            <a:off x="0" y="49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46245" name="Scan9"/>
          <p:cNvSpPr/>
          <p:nvPr/>
        </p:nvSpPr>
        <p:spPr>
          <a:xfrm>
            <a:off x="0" y="55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95942" name="Scan10"/>
          <p:cNvSpPr/>
          <p:nvPr/>
        </p:nvSpPr>
        <p:spPr>
          <a:xfrm>
            <a:off x="0" y="62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09118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F1F1F"/>
              </a:gs>
              <a:gs pos="55000">
                <a:srgbClr val="141414"/>
              </a:gs>
              <a:gs pos="100000">
                <a:srgbClr val="080808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796788" name="VigTop"/>
          <p:cNvSpPr/>
          <p:nvPr/>
        </p:nvSpPr>
        <p:spPr>
          <a:xfrm>
            <a:off x="0" y="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873464" name="VigBot"/>
          <p:cNvSpPr/>
          <p:nvPr/>
        </p:nvSpPr>
        <p:spPr>
          <a:xfrm>
            <a:off x="0" y="535800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162483" name="VigL"/>
          <p:cNvSpPr/>
          <p:nvPr/>
        </p:nvSpPr>
        <p:spPr>
          <a:xfrm>
            <a:off x="0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66861" name="VigR"/>
          <p:cNvSpPr/>
          <p:nvPr/>
        </p:nvSpPr>
        <p:spPr>
          <a:xfrm>
            <a:off x="11091695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317"/>
                </a:solidFill>
                <a:latin typeface="Press Start 2P"/>
              </a:rPr>
              <a:t>03 ·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6E6E6"/>
                </a:solidFill>
                <a:latin typeface="Press Start 2P"/>
              </a:rPr>
              <a:t>PKG_GESTION_PEDIDOS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822960" cy="502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2918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06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1037844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E8A317"/>
                </a:solidFill>
                <a:latin typeface="VT323"/>
              </a:rPr>
              <a:t>Una caja de herramientas: reúne la lógica de pedidos en un solo lugar.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5074920" cy="242316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16352"/>
            <a:ext cx="42976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41FF7E"/>
                </a:solidFill>
                <a:latin typeface="Press Start 2P"/>
              </a:rPr>
              <a:t>PÚBLICOS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46120"/>
            <a:ext cx="4434840" cy="1371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6E6E6"/>
                </a:solidFill>
                <a:latin typeface="VT323"/>
              </a:rPr>
              <a:t>REGISTRAR_PEDIDO</a:t>
            </a:r>
            <a:br/>
            <a:r>
              <a:rPr sz="2500" b="1" i="0">
                <a:solidFill>
                  <a:srgbClr val="E6E6E6"/>
                </a:solidFill>
                <a:latin typeface="VT323"/>
              </a:rPr>
              <a:t>AGREGAR_DETALLE</a:t>
            </a:r>
            <a:br/>
            <a:r>
              <a:rPr sz="2500" b="1" i="0">
                <a:solidFill>
                  <a:srgbClr val="E6E6E6"/>
                </a:solidFill>
                <a:latin typeface="VT323"/>
              </a:rPr>
              <a:t>OBTENER_TOTAL_PEDIDO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606040"/>
            <a:ext cx="5074920" cy="242316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816352"/>
            <a:ext cx="429768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62828"/>
                </a:solidFill>
                <a:latin typeface="Press Start 2P"/>
              </a:rPr>
              <a:t>PRIVADOS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246120"/>
            <a:ext cx="443484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6E6E6"/>
                </a:solidFill>
                <a:latin typeface="VT323"/>
              </a:rPr>
              <a:t>VALIDAR_STOCK</a:t>
            </a:r>
            <a:br/>
            <a:r>
              <a:rPr sz="2500" b="1" i="0">
                <a:solidFill>
                  <a:srgbClr val="E6E6E6"/>
                </a:solidFill>
                <a:latin typeface="VT323"/>
              </a:rPr>
              <a:t>CALCULAR_SUBTOTAL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394960"/>
            <a:ext cx="10058400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9A9A9A"/>
                </a:solidFill>
                <a:latin typeface="VT323"/>
              </a:rPr>
              <a:t>Los privados no se pueden llamar desde fuera del package.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77724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A9A9A"/>
                </a:solidFill>
                <a:latin typeface="VT323"/>
              </a:rPr>
              <a:t>FAZBEAR PIZZA  •  BDY1103  •  SECCIÓN 003D</a:t>
            </a:r>
          </a:p>
        </p:txBody>
      </p:sp>
      <p:sp>
        <p:nvSpPr>
          <p:cNvPr id="9600" name="Piso_960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01" name="Piso_9601"/>
          <p:cNvSpPr/>
          <p:nvPr/>
        </p:nvSpPr>
        <p:spPr>
          <a:xfrm>
            <a:off x="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02" name="Piso_9602"/>
          <p:cNvSpPr/>
          <p:nvPr/>
        </p:nvSpPr>
        <p:spPr>
          <a:xfrm>
            <a:off x="58521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03" name="Piso_9603"/>
          <p:cNvSpPr/>
          <p:nvPr/>
        </p:nvSpPr>
        <p:spPr>
          <a:xfrm>
            <a:off x="117043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04" name="Piso_9604"/>
          <p:cNvSpPr/>
          <p:nvPr/>
        </p:nvSpPr>
        <p:spPr>
          <a:xfrm>
            <a:off x="175564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05" name="Piso_9605"/>
          <p:cNvSpPr/>
          <p:nvPr/>
        </p:nvSpPr>
        <p:spPr>
          <a:xfrm>
            <a:off x="234086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06" name="Piso_9606"/>
          <p:cNvSpPr/>
          <p:nvPr/>
        </p:nvSpPr>
        <p:spPr>
          <a:xfrm>
            <a:off x="292608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07" name="Piso_9607"/>
          <p:cNvSpPr/>
          <p:nvPr/>
        </p:nvSpPr>
        <p:spPr>
          <a:xfrm>
            <a:off x="351129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08" name="Piso_9608"/>
          <p:cNvSpPr/>
          <p:nvPr/>
        </p:nvSpPr>
        <p:spPr>
          <a:xfrm>
            <a:off x="409651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09" name="Piso_9609"/>
          <p:cNvSpPr/>
          <p:nvPr/>
        </p:nvSpPr>
        <p:spPr>
          <a:xfrm>
            <a:off x="468172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10" name="Piso_9610"/>
          <p:cNvSpPr/>
          <p:nvPr/>
        </p:nvSpPr>
        <p:spPr>
          <a:xfrm>
            <a:off x="526694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11" name="Piso_9611"/>
          <p:cNvSpPr/>
          <p:nvPr/>
        </p:nvSpPr>
        <p:spPr>
          <a:xfrm>
            <a:off x="585216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12" name="Piso_9612"/>
          <p:cNvSpPr/>
          <p:nvPr/>
        </p:nvSpPr>
        <p:spPr>
          <a:xfrm>
            <a:off x="643737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13" name="Piso_9613"/>
          <p:cNvSpPr/>
          <p:nvPr/>
        </p:nvSpPr>
        <p:spPr>
          <a:xfrm>
            <a:off x="702259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14" name="Piso_9614"/>
          <p:cNvSpPr/>
          <p:nvPr/>
        </p:nvSpPr>
        <p:spPr>
          <a:xfrm>
            <a:off x="760780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15" name="Piso_9615"/>
          <p:cNvSpPr/>
          <p:nvPr/>
        </p:nvSpPr>
        <p:spPr>
          <a:xfrm>
            <a:off x="819302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16" name="Piso_9616"/>
          <p:cNvSpPr/>
          <p:nvPr/>
        </p:nvSpPr>
        <p:spPr>
          <a:xfrm>
            <a:off x="877824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17" name="Piso_9617"/>
          <p:cNvSpPr/>
          <p:nvPr/>
        </p:nvSpPr>
        <p:spPr>
          <a:xfrm>
            <a:off x="936345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18" name="Piso_9618"/>
          <p:cNvSpPr/>
          <p:nvPr/>
        </p:nvSpPr>
        <p:spPr>
          <a:xfrm>
            <a:off x="994867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19" name="Piso_9619"/>
          <p:cNvSpPr/>
          <p:nvPr/>
        </p:nvSpPr>
        <p:spPr>
          <a:xfrm>
            <a:off x="1053388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20" name="Piso_9620"/>
          <p:cNvSpPr/>
          <p:nvPr/>
        </p:nvSpPr>
        <p:spPr>
          <a:xfrm>
            <a:off x="1111910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621" name="Piso_9621"/>
          <p:cNvSpPr/>
          <p:nvPr/>
        </p:nvSpPr>
        <p:spPr>
          <a:xfrm>
            <a:off x="1170432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771" name="HUD_Cam"/>
          <p:cNvSpPr txBox="1"/>
          <p:nvPr/>
        </p:nvSpPr>
        <p:spPr>
          <a:xfrm>
            <a:off x="8009880" y="329184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E8A317"/>
                </a:solidFill>
                <a:latin typeface="Press Start 2P"/>
              </a:rPr>
              <a:t>CAM 05 · PIRATE COVE</a:t>
            </a:r>
          </a:p>
        </p:txBody>
      </p:sp>
      <p:sp>
        <p:nvSpPr>
          <p:cNvPr id="772" name="HUD_Rec"/>
          <p:cNvSpPr txBox="1"/>
          <p:nvPr/>
        </p:nvSpPr>
        <p:spPr>
          <a:xfrm>
            <a:off x="8600000" y="6510528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62828"/>
                </a:solidFill>
                <a:latin typeface="Press Start 2P"/>
              </a:rPr>
              <a:t>REC</a:t>
            </a:r>
            <a:r>
              <a:rPr sz="700" b="1" i="0">
                <a:solidFill>
                  <a:srgbClr val="E8A317"/>
                </a:solidFill>
                <a:latin typeface="Press Start 2P"/>
              </a:rPr>
              <a:t>   12:00 AM</a:t>
            </a:r>
          </a:p>
        </p:txBody>
      </p:sp>
      <p:sp>
        <p:nvSpPr>
          <p:cNvPr id="1082292" name="RecDot"/>
          <p:cNvSpPr/>
          <p:nvPr/>
        </p:nvSpPr>
        <p:spPr>
          <a:xfrm>
            <a:off x="10230000" y="6555000"/>
            <a:ext cx="110000" cy="1100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686" name="Scan0"/>
          <p:cNvSpPr/>
          <p:nvPr/>
        </p:nvSpPr>
        <p:spPr>
          <a:xfrm>
            <a:off x="0" y="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03901" name="Scan1"/>
          <p:cNvSpPr/>
          <p:nvPr/>
        </p:nvSpPr>
        <p:spPr>
          <a:xfrm>
            <a:off x="0" y="6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15796" name="Scan2"/>
          <p:cNvSpPr/>
          <p:nvPr/>
        </p:nvSpPr>
        <p:spPr>
          <a:xfrm>
            <a:off x="0" y="12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62542" name="Scan3"/>
          <p:cNvSpPr/>
          <p:nvPr/>
        </p:nvSpPr>
        <p:spPr>
          <a:xfrm>
            <a:off x="0" y="18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81867" name="Scan4"/>
          <p:cNvSpPr/>
          <p:nvPr/>
        </p:nvSpPr>
        <p:spPr>
          <a:xfrm>
            <a:off x="0" y="24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67779" name="Scan5"/>
          <p:cNvSpPr/>
          <p:nvPr/>
        </p:nvSpPr>
        <p:spPr>
          <a:xfrm>
            <a:off x="0" y="31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69709" name="Scan6"/>
          <p:cNvSpPr/>
          <p:nvPr/>
        </p:nvSpPr>
        <p:spPr>
          <a:xfrm>
            <a:off x="0" y="37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08317" name="Scan7"/>
          <p:cNvSpPr/>
          <p:nvPr/>
        </p:nvSpPr>
        <p:spPr>
          <a:xfrm>
            <a:off x="0" y="43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7029" name="Scan8"/>
          <p:cNvSpPr/>
          <p:nvPr/>
        </p:nvSpPr>
        <p:spPr>
          <a:xfrm>
            <a:off x="0" y="49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46245" name="Scan9"/>
          <p:cNvSpPr/>
          <p:nvPr/>
        </p:nvSpPr>
        <p:spPr>
          <a:xfrm>
            <a:off x="0" y="55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95942" name="Scan10"/>
          <p:cNvSpPr/>
          <p:nvPr/>
        </p:nvSpPr>
        <p:spPr>
          <a:xfrm>
            <a:off x="0" y="62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09118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F1F1F"/>
              </a:gs>
              <a:gs pos="55000">
                <a:srgbClr val="141414"/>
              </a:gs>
              <a:gs pos="100000">
                <a:srgbClr val="080808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796788" name="VigTop"/>
          <p:cNvSpPr/>
          <p:nvPr/>
        </p:nvSpPr>
        <p:spPr>
          <a:xfrm>
            <a:off x="0" y="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873464" name="VigBot"/>
          <p:cNvSpPr/>
          <p:nvPr/>
        </p:nvSpPr>
        <p:spPr>
          <a:xfrm>
            <a:off x="0" y="535800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162483" name="VigL"/>
          <p:cNvSpPr/>
          <p:nvPr/>
        </p:nvSpPr>
        <p:spPr>
          <a:xfrm>
            <a:off x="0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66861" name="VigR"/>
          <p:cNvSpPr/>
          <p:nvPr/>
        </p:nvSpPr>
        <p:spPr>
          <a:xfrm>
            <a:off x="11091695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317"/>
                </a:solidFill>
                <a:latin typeface="Press Start 2P"/>
              </a:rPr>
              <a:t>03 · CÓDIGO DEL PACKAGE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6E6E6"/>
                </a:solidFill>
                <a:latin typeface="Press Start 2P"/>
              </a:rPr>
              <a:t>Lo público y lo privado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822960" cy="502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2918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07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44200" cy="306324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9476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78992" y="19476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61872" y="19476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41F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856231"/>
            <a:ext cx="982980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FRAGMENTO DEL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67712"/>
            <a:ext cx="10268712" cy="24414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41FF7E"/>
                </a:solidFill>
                <a:latin typeface="VT323"/>
              </a:defRPr>
            </a:pPr>
            <a:r>
              <a:rPr sz="2000">
                <a:solidFill>
                  <a:srgbClr val="41FF7E"/>
                </a:solidFill>
                <a:latin typeface="VT323"/>
              </a:rPr>
              <a:t>-- especificación (lo público)</a:t>
            </a:r>
          </a:p>
          <a:p>
            <a:pPr>
              <a:spcAft>
                <a:spcPts val="500"/>
              </a:spcAft>
              <a:defRPr sz="2000">
                <a:solidFill>
                  <a:srgbClr val="41FF7E"/>
                </a:solidFill>
                <a:latin typeface="VT323"/>
              </a:defRPr>
            </a:pPr>
            <a:r>
              <a:rPr sz="2000">
                <a:solidFill>
                  <a:srgbClr val="41FF7E"/>
                </a:solidFill>
                <a:latin typeface="VT323"/>
              </a:rPr>
              <a:t>PROCEDURE AGREGAR_DETALLE(</a:t>
            </a:r>
          </a:p>
          <a:p>
            <a:pPr>
              <a:spcAft>
                <a:spcPts val="500"/>
              </a:spcAft>
              <a:defRPr sz="2000">
                <a:solidFill>
                  <a:srgbClr val="41FF7E"/>
                </a:solidFill>
                <a:latin typeface="VT323"/>
              </a:defRPr>
            </a:pPr>
            <a:r>
              <a:rPr sz="2000">
                <a:solidFill>
                  <a:srgbClr val="41FF7E"/>
                </a:solidFill>
                <a:latin typeface="VT323"/>
              </a:rPr>
              <a:t>  p_id_pedido, p_id_producto, p_cantidad</a:t>
            </a:r>
          </a:p>
          <a:p>
            <a:pPr>
              <a:spcAft>
                <a:spcPts val="500"/>
              </a:spcAft>
              <a:defRPr sz="2000">
                <a:solidFill>
                  <a:srgbClr val="41FF7E"/>
                </a:solidFill>
                <a:latin typeface="VT323"/>
              </a:defRPr>
            </a:pPr>
            <a:r>
              <a:rPr sz="2000">
                <a:solidFill>
                  <a:srgbClr val="41FF7E"/>
                </a:solidFill>
                <a:latin typeface="VT323"/>
              </a:rPr>
              <a:t>);</a:t>
            </a:r>
          </a:p>
          <a:p>
            <a:pPr>
              <a:spcAft>
                <a:spcPts val="500"/>
              </a:spcAft>
              <a:defRPr sz="2000">
                <a:solidFill>
                  <a:srgbClr val="41FF7E"/>
                </a:solidFill>
                <a:latin typeface="VT323"/>
              </a:defRPr>
            </a:pPr>
            <a:r>
              <a:rPr sz="2000">
                <a:solidFill>
                  <a:srgbClr val="41FF7E"/>
                </a:solidFill>
                <a:latin typeface="VT323"/>
              </a:rPr>
              <a:t>-- cuerpo (lo privado)</a:t>
            </a:r>
          </a:p>
          <a:p>
            <a:pPr>
              <a:spcAft>
                <a:spcPts val="500"/>
              </a:spcAft>
              <a:defRPr sz="2000">
                <a:solidFill>
                  <a:srgbClr val="41FF7E"/>
                </a:solidFill>
                <a:latin typeface="VT323"/>
              </a:defRPr>
            </a:pPr>
            <a:r>
              <a:rPr sz="2000">
                <a:solidFill>
                  <a:srgbClr val="41FF7E"/>
                </a:solidFill>
                <a:latin typeface="VT323"/>
              </a:rPr>
              <a:t>PROCEDURE VALIDAR_STOCK(p_id_producto, p_cantidad);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120640"/>
            <a:ext cx="10652760" cy="822960"/>
          </a:xfrm>
          <a:prstGeom prst="roundRect">
            <a:avLst>
              <a:gd name="adj" fmla="val 12000"/>
            </a:avLst>
          </a:prstGeom>
          <a:solidFill>
            <a:srgbClr val="0E0E0E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39512"/>
            <a:ext cx="1014984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E6E6E6"/>
                </a:solidFill>
                <a:latin typeface="VT323"/>
              </a:rPr>
              <a:t>VALIDAR_STOCK está solo en el cuerpo: desde fuera no se puede llamar directamente.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77724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A9A9A"/>
                </a:solidFill>
                <a:latin typeface="VT323"/>
              </a:rPr>
              <a:t>FAZBEAR PIZZA  •  BDY1103  •  SECCIÓN 003D</a:t>
            </a:r>
          </a:p>
        </p:txBody>
      </p:sp>
      <p:sp>
        <p:nvSpPr>
          <p:cNvPr id="9700" name="Piso_970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01" name="Piso_9701"/>
          <p:cNvSpPr/>
          <p:nvPr/>
        </p:nvSpPr>
        <p:spPr>
          <a:xfrm>
            <a:off x="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02" name="Piso_9702"/>
          <p:cNvSpPr/>
          <p:nvPr/>
        </p:nvSpPr>
        <p:spPr>
          <a:xfrm>
            <a:off x="58521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03" name="Piso_9703"/>
          <p:cNvSpPr/>
          <p:nvPr/>
        </p:nvSpPr>
        <p:spPr>
          <a:xfrm>
            <a:off x="117043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04" name="Piso_9704"/>
          <p:cNvSpPr/>
          <p:nvPr/>
        </p:nvSpPr>
        <p:spPr>
          <a:xfrm>
            <a:off x="175564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05" name="Piso_9705"/>
          <p:cNvSpPr/>
          <p:nvPr/>
        </p:nvSpPr>
        <p:spPr>
          <a:xfrm>
            <a:off x="234086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06" name="Piso_9706"/>
          <p:cNvSpPr/>
          <p:nvPr/>
        </p:nvSpPr>
        <p:spPr>
          <a:xfrm>
            <a:off x="292608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07" name="Piso_9707"/>
          <p:cNvSpPr/>
          <p:nvPr/>
        </p:nvSpPr>
        <p:spPr>
          <a:xfrm>
            <a:off x="351129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08" name="Piso_9708"/>
          <p:cNvSpPr/>
          <p:nvPr/>
        </p:nvSpPr>
        <p:spPr>
          <a:xfrm>
            <a:off x="409651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09" name="Piso_9709"/>
          <p:cNvSpPr/>
          <p:nvPr/>
        </p:nvSpPr>
        <p:spPr>
          <a:xfrm>
            <a:off x="468172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10" name="Piso_9710"/>
          <p:cNvSpPr/>
          <p:nvPr/>
        </p:nvSpPr>
        <p:spPr>
          <a:xfrm>
            <a:off x="526694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11" name="Piso_9711"/>
          <p:cNvSpPr/>
          <p:nvPr/>
        </p:nvSpPr>
        <p:spPr>
          <a:xfrm>
            <a:off x="585216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12" name="Piso_9712"/>
          <p:cNvSpPr/>
          <p:nvPr/>
        </p:nvSpPr>
        <p:spPr>
          <a:xfrm>
            <a:off x="643737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13" name="Piso_9713"/>
          <p:cNvSpPr/>
          <p:nvPr/>
        </p:nvSpPr>
        <p:spPr>
          <a:xfrm>
            <a:off x="702259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14" name="Piso_9714"/>
          <p:cNvSpPr/>
          <p:nvPr/>
        </p:nvSpPr>
        <p:spPr>
          <a:xfrm>
            <a:off x="760780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15" name="Piso_9715"/>
          <p:cNvSpPr/>
          <p:nvPr/>
        </p:nvSpPr>
        <p:spPr>
          <a:xfrm>
            <a:off x="819302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16" name="Piso_9716"/>
          <p:cNvSpPr/>
          <p:nvPr/>
        </p:nvSpPr>
        <p:spPr>
          <a:xfrm>
            <a:off x="877824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17" name="Piso_9717"/>
          <p:cNvSpPr/>
          <p:nvPr/>
        </p:nvSpPr>
        <p:spPr>
          <a:xfrm>
            <a:off x="936345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18" name="Piso_9718"/>
          <p:cNvSpPr/>
          <p:nvPr/>
        </p:nvSpPr>
        <p:spPr>
          <a:xfrm>
            <a:off x="994867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19" name="Piso_9719"/>
          <p:cNvSpPr/>
          <p:nvPr/>
        </p:nvSpPr>
        <p:spPr>
          <a:xfrm>
            <a:off x="1053388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20" name="Piso_9720"/>
          <p:cNvSpPr/>
          <p:nvPr/>
        </p:nvSpPr>
        <p:spPr>
          <a:xfrm>
            <a:off x="1111910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721" name="Piso_9721"/>
          <p:cNvSpPr/>
          <p:nvPr/>
        </p:nvSpPr>
        <p:spPr>
          <a:xfrm>
            <a:off x="1170432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771" name="HUD_Cam"/>
          <p:cNvSpPr txBox="1"/>
          <p:nvPr/>
        </p:nvSpPr>
        <p:spPr>
          <a:xfrm>
            <a:off x="8009880" y="329184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E8A317"/>
                </a:solidFill>
                <a:latin typeface="Press Start 2P"/>
              </a:rPr>
              <a:t>CAM 06 · WEST HALL</a:t>
            </a:r>
          </a:p>
        </p:txBody>
      </p:sp>
      <p:sp>
        <p:nvSpPr>
          <p:cNvPr id="772" name="HUD_Rec"/>
          <p:cNvSpPr txBox="1"/>
          <p:nvPr/>
        </p:nvSpPr>
        <p:spPr>
          <a:xfrm>
            <a:off x="8600000" y="6510528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62828"/>
                </a:solidFill>
                <a:latin typeface="Press Start 2P"/>
              </a:rPr>
              <a:t>REC</a:t>
            </a:r>
            <a:r>
              <a:rPr sz="700" b="1" i="0">
                <a:solidFill>
                  <a:srgbClr val="E8A317"/>
                </a:solidFill>
                <a:latin typeface="Press Start 2P"/>
              </a:rPr>
              <a:t>   12:00 AM</a:t>
            </a:r>
          </a:p>
        </p:txBody>
      </p:sp>
      <p:sp>
        <p:nvSpPr>
          <p:cNvPr id="1082292" name="RecDot"/>
          <p:cNvSpPr/>
          <p:nvPr/>
        </p:nvSpPr>
        <p:spPr>
          <a:xfrm>
            <a:off x="10230000" y="6555000"/>
            <a:ext cx="110000" cy="1100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686" name="Scan0"/>
          <p:cNvSpPr/>
          <p:nvPr/>
        </p:nvSpPr>
        <p:spPr>
          <a:xfrm>
            <a:off x="0" y="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03901" name="Scan1"/>
          <p:cNvSpPr/>
          <p:nvPr/>
        </p:nvSpPr>
        <p:spPr>
          <a:xfrm>
            <a:off x="0" y="6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15796" name="Scan2"/>
          <p:cNvSpPr/>
          <p:nvPr/>
        </p:nvSpPr>
        <p:spPr>
          <a:xfrm>
            <a:off x="0" y="12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62542" name="Scan3"/>
          <p:cNvSpPr/>
          <p:nvPr/>
        </p:nvSpPr>
        <p:spPr>
          <a:xfrm>
            <a:off x="0" y="18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81867" name="Scan4"/>
          <p:cNvSpPr/>
          <p:nvPr/>
        </p:nvSpPr>
        <p:spPr>
          <a:xfrm>
            <a:off x="0" y="24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67779" name="Scan5"/>
          <p:cNvSpPr/>
          <p:nvPr/>
        </p:nvSpPr>
        <p:spPr>
          <a:xfrm>
            <a:off x="0" y="31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69709" name="Scan6"/>
          <p:cNvSpPr/>
          <p:nvPr/>
        </p:nvSpPr>
        <p:spPr>
          <a:xfrm>
            <a:off x="0" y="37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08317" name="Scan7"/>
          <p:cNvSpPr/>
          <p:nvPr/>
        </p:nvSpPr>
        <p:spPr>
          <a:xfrm>
            <a:off x="0" y="43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7029" name="Scan8"/>
          <p:cNvSpPr/>
          <p:nvPr/>
        </p:nvSpPr>
        <p:spPr>
          <a:xfrm>
            <a:off x="0" y="49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46245" name="Scan9"/>
          <p:cNvSpPr/>
          <p:nvPr/>
        </p:nvSpPr>
        <p:spPr>
          <a:xfrm>
            <a:off x="0" y="55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95942" name="Scan10"/>
          <p:cNvSpPr/>
          <p:nvPr/>
        </p:nvSpPr>
        <p:spPr>
          <a:xfrm>
            <a:off x="0" y="62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09118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F1F1F"/>
              </a:gs>
              <a:gs pos="55000">
                <a:srgbClr val="141414"/>
              </a:gs>
              <a:gs pos="100000">
                <a:srgbClr val="080808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796788" name="VigTop"/>
          <p:cNvSpPr/>
          <p:nvPr/>
        </p:nvSpPr>
        <p:spPr>
          <a:xfrm>
            <a:off x="0" y="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873464" name="VigBot"/>
          <p:cNvSpPr/>
          <p:nvPr/>
        </p:nvSpPr>
        <p:spPr>
          <a:xfrm>
            <a:off x="0" y="535800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162483" name="VigL"/>
          <p:cNvSpPr/>
          <p:nvPr/>
        </p:nvSpPr>
        <p:spPr>
          <a:xfrm>
            <a:off x="0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66861" name="VigR"/>
          <p:cNvSpPr/>
          <p:nvPr/>
        </p:nvSpPr>
        <p:spPr>
          <a:xfrm>
            <a:off x="11091695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317"/>
                </a:solidFill>
                <a:latin typeface="Press Start 2P"/>
              </a:rPr>
              <a:t>04 · LA DIFERENCIA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6E6E6"/>
                </a:solidFill>
                <a:latin typeface="Press Start 2P"/>
              </a:rPr>
              <a:t>Triggers: fila vs sentencia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822960" cy="502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2918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08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669280" cy="3246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1500"/>
              </a:spcAft>
            </a:pPr>
            <a:r>
              <a:rPr sz="2400" b="1">
                <a:solidFill>
                  <a:srgbClr val="E8A317"/>
                </a:solidFill>
                <a:latin typeface="VT323"/>
              </a:rPr>
              <a:t>•  </a:t>
            </a:r>
            <a:r>
              <a:rPr sz="2400">
                <a:solidFill>
                  <a:srgbClr val="E6E6E6"/>
                </a:solidFill>
                <a:latin typeface="VT323"/>
              </a:rPr>
              <a:t>De fila: una vez por cada registro modificado</a:t>
            </a:r>
          </a:p>
          <a:p>
            <a:pPr>
              <a:spcAft>
                <a:spcPts val="1500"/>
              </a:spcAft>
            </a:pPr>
            <a:r>
              <a:rPr sz="2400" b="1">
                <a:solidFill>
                  <a:srgbClr val="E8A317"/>
                </a:solidFill>
                <a:latin typeface="VT323"/>
              </a:rPr>
              <a:t>•  </a:t>
            </a:r>
            <a:r>
              <a:rPr sz="2400">
                <a:solidFill>
                  <a:srgbClr val="E6E6E6"/>
                </a:solidFill>
                <a:latin typeface="VT323"/>
              </a:rPr>
              <a:t>De sentencia: una vez por operación SQL</a:t>
            </a:r>
          </a:p>
          <a:p>
            <a:pPr>
              <a:spcAft>
                <a:spcPts val="1500"/>
              </a:spcAft>
            </a:pPr>
            <a:r>
              <a:rPr sz="2400" b="1">
                <a:solidFill>
                  <a:srgbClr val="E8A317"/>
                </a:solidFill>
                <a:latin typeface="VT323"/>
              </a:rPr>
              <a:t>•  </a:t>
            </a:r>
            <a:r>
              <a:rPr sz="2400">
                <a:solidFill>
                  <a:srgbClr val="E6E6E6"/>
                </a:solidFill>
                <a:latin typeface="VT323"/>
              </a:rPr>
              <a:t>UPDATE a 10 productos -&gt; fila: 10 veces; sentencia: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011680"/>
            <a:ext cx="5029200" cy="219456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11112" y="21762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93992" y="21762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76872" y="21762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41F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59" y="2084832"/>
            <a:ext cx="4114800" cy="292608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9A9A9A"/>
                </a:solidFill>
                <a:latin typeface="Press Start 2P"/>
              </a:defRPr>
            </a:pPr>
            <a:r>
              <a:rPr sz="1000" b="1" i="0">
                <a:solidFill>
                  <a:srgbClr val="9A9A9A"/>
                </a:solidFill>
                <a:latin typeface="Press Start 2P"/>
              </a:rPr>
              <a:t>LOS DOS NIVELES · CÓDIGO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2440000"/>
            <a:ext cx="4553712" cy="17500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E8A317"/>
                </a:solidFill>
                <a:latin typeface="VT323"/>
              </a:defRPr>
            </a:pPr>
            <a:r>
              <a:rPr sz="1400" b="0" i="0">
                <a:solidFill>
                  <a:srgbClr val="E8A317"/>
                </a:solidFill>
                <a:latin typeface="VT323"/>
              </a:rPr>
              <a:t>-- DE FILA: por cada fila</a:t>
            </a:r>
          </a:p>
          <a:p>
            <a:pPr>
              <a:spcAft>
                <a:spcPts val="100"/>
              </a:spcAft>
              <a:defRPr sz="1400">
                <a:solidFill>
                  <a:srgbClr val="41FF7E"/>
                </a:solidFill>
                <a:latin typeface="VT323"/>
              </a:defRPr>
            </a:pPr>
            <a:r>
              <a:rPr sz="1400" b="0" i="0">
                <a:solidFill>
                  <a:srgbClr val="41FF7E"/>
                </a:solidFill>
                <a:latin typeface="VT323"/>
              </a:rPr>
              <a:t>BEFORE UPDATE OF estado ON Pedido</a:t>
            </a:r>
          </a:p>
          <a:p>
            <a:pPr>
              <a:spcAft>
                <a:spcPts val="100"/>
              </a:spcAft>
              <a:defRPr sz="1400">
                <a:solidFill>
                  <a:srgbClr val="41FF7E"/>
                </a:solidFill>
                <a:latin typeface="VT323"/>
              </a:defRPr>
            </a:pPr>
            <a:r>
              <a:rPr sz="1400" b="0" i="0">
                <a:solidFill>
                  <a:srgbClr val="41FF7E"/>
                </a:solidFill>
                <a:latin typeface="VT323"/>
              </a:rPr>
              <a:t>FOR EACH ROW  &lt;- lo hace de fila</a:t>
            </a:r>
          </a:p>
          <a:p>
            <a:pPr>
              <a:spcAft>
                <a:spcPts val="100"/>
              </a:spcAft>
              <a:defRPr sz="1400">
                <a:solidFill>
                  <a:srgbClr val="E8A317"/>
                </a:solidFill>
                <a:latin typeface="VT323"/>
              </a:defRPr>
            </a:pPr>
            <a:r>
              <a:rPr sz="1400" b="0" i="0">
                <a:solidFill>
                  <a:srgbClr val="E8A317"/>
                </a:solidFill>
                <a:latin typeface="VT323"/>
              </a:rPr>
              <a:t>-- DE SENTENCIA: una sola vez</a:t>
            </a:r>
          </a:p>
          <a:p>
            <a:pPr>
              <a:spcAft>
                <a:spcPts val="100"/>
              </a:spcAft>
              <a:defRPr sz="1400">
                <a:solidFill>
                  <a:srgbClr val="41FF7E"/>
                </a:solidFill>
                <a:latin typeface="VT323"/>
              </a:defRPr>
            </a:pPr>
            <a:r>
              <a:rPr sz="1400" b="0" i="0">
                <a:solidFill>
                  <a:srgbClr val="41FF7E"/>
                </a:solidFill>
                <a:latin typeface="VT323"/>
              </a:rPr>
              <a:t>AFTER INSERT OR UPDATE OR</a:t>
            </a:r>
          </a:p>
          <a:p>
            <a:pPr>
              <a:spcAft>
                <a:spcPts val="100"/>
              </a:spcAft>
              <a:defRPr sz="1400">
                <a:solidFill>
                  <a:srgbClr val="41FF7E"/>
                </a:solidFill>
                <a:latin typeface="VT323"/>
              </a:defRPr>
            </a:pPr>
            <a:r>
              <a:rPr sz="1400" b="0" i="0">
                <a:solidFill>
                  <a:srgbClr val="41FF7E"/>
                </a:solidFill>
                <a:latin typeface="VT323"/>
              </a:rPr>
              <a:t>DELETE ON Pedido</a:t>
            </a:r>
          </a:p>
          <a:p>
            <a:pPr>
              <a:spcAft>
                <a:spcPts val="100"/>
              </a:spcAft>
              <a:defRPr sz="1400">
                <a:solidFill>
                  <a:srgbClr val="E8A317"/>
                </a:solidFill>
                <a:latin typeface="VT323"/>
              </a:defRPr>
            </a:pPr>
            <a:r>
              <a:rPr sz="1400" b="0" i="0">
                <a:solidFill>
                  <a:srgbClr val="E8A317"/>
                </a:solidFill>
                <a:latin typeface="VT323"/>
              </a:rPr>
              <a:t>  ... sin FOR EACH ROW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4526280"/>
            <a:ext cx="4709160" cy="9601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9A9A9A"/>
                </a:solidFill>
                <a:latin typeface="VT323"/>
              </a:rPr>
              <a:t>La validación de estado necesita :OLD y :NEW; la auditoría cuenta la sentencia completa.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77724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A9A9A"/>
                </a:solidFill>
                <a:latin typeface="VT323"/>
              </a:rPr>
              <a:t>FAZBEAR PIZZA  •  BDY1103  •  SECCIÓN 003D</a:t>
            </a:r>
          </a:p>
        </p:txBody>
      </p:sp>
      <p:sp>
        <p:nvSpPr>
          <p:cNvPr id="9800" name="Piso_980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01" name="Piso_9801"/>
          <p:cNvSpPr/>
          <p:nvPr/>
        </p:nvSpPr>
        <p:spPr>
          <a:xfrm>
            <a:off x="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02" name="Piso_9802"/>
          <p:cNvSpPr/>
          <p:nvPr/>
        </p:nvSpPr>
        <p:spPr>
          <a:xfrm>
            <a:off x="58521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03" name="Piso_9803"/>
          <p:cNvSpPr/>
          <p:nvPr/>
        </p:nvSpPr>
        <p:spPr>
          <a:xfrm>
            <a:off x="117043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04" name="Piso_9804"/>
          <p:cNvSpPr/>
          <p:nvPr/>
        </p:nvSpPr>
        <p:spPr>
          <a:xfrm>
            <a:off x="175564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05" name="Piso_9805"/>
          <p:cNvSpPr/>
          <p:nvPr/>
        </p:nvSpPr>
        <p:spPr>
          <a:xfrm>
            <a:off x="234086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06" name="Piso_9806"/>
          <p:cNvSpPr/>
          <p:nvPr/>
        </p:nvSpPr>
        <p:spPr>
          <a:xfrm>
            <a:off x="292608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07" name="Piso_9807"/>
          <p:cNvSpPr/>
          <p:nvPr/>
        </p:nvSpPr>
        <p:spPr>
          <a:xfrm>
            <a:off x="351129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08" name="Piso_9808"/>
          <p:cNvSpPr/>
          <p:nvPr/>
        </p:nvSpPr>
        <p:spPr>
          <a:xfrm>
            <a:off x="409651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09" name="Piso_9809"/>
          <p:cNvSpPr/>
          <p:nvPr/>
        </p:nvSpPr>
        <p:spPr>
          <a:xfrm>
            <a:off x="468172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10" name="Piso_9810"/>
          <p:cNvSpPr/>
          <p:nvPr/>
        </p:nvSpPr>
        <p:spPr>
          <a:xfrm>
            <a:off x="526694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11" name="Piso_9811"/>
          <p:cNvSpPr/>
          <p:nvPr/>
        </p:nvSpPr>
        <p:spPr>
          <a:xfrm>
            <a:off x="585216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12" name="Piso_9812"/>
          <p:cNvSpPr/>
          <p:nvPr/>
        </p:nvSpPr>
        <p:spPr>
          <a:xfrm>
            <a:off x="643737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13" name="Piso_9813"/>
          <p:cNvSpPr/>
          <p:nvPr/>
        </p:nvSpPr>
        <p:spPr>
          <a:xfrm>
            <a:off x="702259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14" name="Piso_9814"/>
          <p:cNvSpPr/>
          <p:nvPr/>
        </p:nvSpPr>
        <p:spPr>
          <a:xfrm>
            <a:off x="760780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15" name="Piso_9815"/>
          <p:cNvSpPr/>
          <p:nvPr/>
        </p:nvSpPr>
        <p:spPr>
          <a:xfrm>
            <a:off x="819302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16" name="Piso_9816"/>
          <p:cNvSpPr/>
          <p:nvPr/>
        </p:nvSpPr>
        <p:spPr>
          <a:xfrm>
            <a:off x="877824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17" name="Piso_9817"/>
          <p:cNvSpPr/>
          <p:nvPr/>
        </p:nvSpPr>
        <p:spPr>
          <a:xfrm>
            <a:off x="936345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18" name="Piso_9818"/>
          <p:cNvSpPr/>
          <p:nvPr/>
        </p:nvSpPr>
        <p:spPr>
          <a:xfrm>
            <a:off x="994867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19" name="Piso_9819"/>
          <p:cNvSpPr/>
          <p:nvPr/>
        </p:nvSpPr>
        <p:spPr>
          <a:xfrm>
            <a:off x="1053388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20" name="Piso_9820"/>
          <p:cNvSpPr/>
          <p:nvPr/>
        </p:nvSpPr>
        <p:spPr>
          <a:xfrm>
            <a:off x="1111910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821" name="Piso_9821"/>
          <p:cNvSpPr/>
          <p:nvPr/>
        </p:nvSpPr>
        <p:spPr>
          <a:xfrm>
            <a:off x="1170432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771" name="HUD_Cam"/>
          <p:cNvSpPr txBox="1"/>
          <p:nvPr/>
        </p:nvSpPr>
        <p:spPr>
          <a:xfrm>
            <a:off x="8009880" y="329184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E8A317"/>
                </a:solidFill>
                <a:latin typeface="Press Start 2P"/>
              </a:rPr>
              <a:t>CAM 07 · EAST HALL</a:t>
            </a:r>
          </a:p>
        </p:txBody>
      </p:sp>
      <p:sp>
        <p:nvSpPr>
          <p:cNvPr id="772" name="HUD_Rec"/>
          <p:cNvSpPr txBox="1"/>
          <p:nvPr/>
        </p:nvSpPr>
        <p:spPr>
          <a:xfrm>
            <a:off x="8600000" y="6510528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62828"/>
                </a:solidFill>
                <a:latin typeface="Press Start 2P"/>
              </a:rPr>
              <a:t>REC</a:t>
            </a:r>
            <a:r>
              <a:rPr sz="700" b="1" i="0">
                <a:solidFill>
                  <a:srgbClr val="E8A317"/>
                </a:solidFill>
                <a:latin typeface="Press Start 2P"/>
              </a:rPr>
              <a:t>   12:00 AM</a:t>
            </a:r>
          </a:p>
        </p:txBody>
      </p:sp>
      <p:sp>
        <p:nvSpPr>
          <p:cNvPr id="1082292" name="RecDot"/>
          <p:cNvSpPr/>
          <p:nvPr/>
        </p:nvSpPr>
        <p:spPr>
          <a:xfrm>
            <a:off x="10230000" y="6555000"/>
            <a:ext cx="110000" cy="1100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686" name="Scan0"/>
          <p:cNvSpPr/>
          <p:nvPr/>
        </p:nvSpPr>
        <p:spPr>
          <a:xfrm>
            <a:off x="0" y="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03901" name="Scan1"/>
          <p:cNvSpPr/>
          <p:nvPr/>
        </p:nvSpPr>
        <p:spPr>
          <a:xfrm>
            <a:off x="0" y="6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15796" name="Scan2"/>
          <p:cNvSpPr/>
          <p:nvPr/>
        </p:nvSpPr>
        <p:spPr>
          <a:xfrm>
            <a:off x="0" y="12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62542" name="Scan3"/>
          <p:cNvSpPr/>
          <p:nvPr/>
        </p:nvSpPr>
        <p:spPr>
          <a:xfrm>
            <a:off x="0" y="18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81867" name="Scan4"/>
          <p:cNvSpPr/>
          <p:nvPr/>
        </p:nvSpPr>
        <p:spPr>
          <a:xfrm>
            <a:off x="0" y="24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67779" name="Scan5"/>
          <p:cNvSpPr/>
          <p:nvPr/>
        </p:nvSpPr>
        <p:spPr>
          <a:xfrm>
            <a:off x="0" y="31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69709" name="Scan6"/>
          <p:cNvSpPr/>
          <p:nvPr/>
        </p:nvSpPr>
        <p:spPr>
          <a:xfrm>
            <a:off x="0" y="37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08317" name="Scan7"/>
          <p:cNvSpPr/>
          <p:nvPr/>
        </p:nvSpPr>
        <p:spPr>
          <a:xfrm>
            <a:off x="0" y="43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7029" name="Scan8"/>
          <p:cNvSpPr/>
          <p:nvPr/>
        </p:nvSpPr>
        <p:spPr>
          <a:xfrm>
            <a:off x="0" y="49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46245" name="Scan9"/>
          <p:cNvSpPr/>
          <p:nvPr/>
        </p:nvSpPr>
        <p:spPr>
          <a:xfrm>
            <a:off x="0" y="55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95942" name="Scan10"/>
          <p:cNvSpPr/>
          <p:nvPr/>
        </p:nvSpPr>
        <p:spPr>
          <a:xfrm>
            <a:off x="0" y="62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09118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F1F1F"/>
              </a:gs>
              <a:gs pos="55000">
                <a:srgbClr val="141414"/>
              </a:gs>
              <a:gs pos="100000">
                <a:srgbClr val="080808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796788" name="VigTop"/>
          <p:cNvSpPr/>
          <p:nvPr/>
        </p:nvSpPr>
        <p:spPr>
          <a:xfrm>
            <a:off x="0" y="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873464" name="VigBot"/>
          <p:cNvSpPr/>
          <p:nvPr/>
        </p:nvSpPr>
        <p:spPr>
          <a:xfrm>
            <a:off x="0" y="535800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162483" name="VigL"/>
          <p:cNvSpPr/>
          <p:nvPr/>
        </p:nvSpPr>
        <p:spPr>
          <a:xfrm>
            <a:off x="0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66861" name="VigR"/>
          <p:cNvSpPr/>
          <p:nvPr/>
        </p:nvSpPr>
        <p:spPr>
          <a:xfrm>
            <a:off x="11091695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317"/>
                </a:solidFill>
                <a:latin typeface="Press Start 2P"/>
              </a:rPr>
              <a:t>04 · CÓDIGO + PRUEBA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6E6E6"/>
                </a:solidFill>
                <a:latin typeface="Press Start 2P"/>
              </a:rPr>
              <a:t>TGR_AUDITAR_PEDIDOS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822960" cy="502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2918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6583680" cy="352044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9476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33271" y="19476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16152" y="1947672"/>
            <a:ext cx="109728" cy="109728"/>
          </a:xfrm>
          <a:prstGeom prst="roundRect">
            <a:avLst>
              <a:gd name="adj" fmla="val 12000"/>
            </a:avLst>
          </a:prstGeom>
          <a:solidFill>
            <a:srgbClr val="41F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856231"/>
            <a:ext cx="566928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FRAGMENTO REAL · SIN FOR EACH 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67712"/>
            <a:ext cx="6108192" cy="289864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41FF7E"/>
                </a:solidFill>
                <a:latin typeface="VT323"/>
              </a:defRPr>
            </a:pPr>
            <a:r>
              <a:rPr sz="1800">
                <a:solidFill>
                  <a:srgbClr val="41FF7E"/>
                </a:solidFill>
                <a:latin typeface="VT323"/>
              </a:rPr>
              <a:t>CREATE OR REPLACE TRIGGER TGR_AUDITAR_PEDIDOS</a:t>
            </a:r>
          </a:p>
          <a:p>
            <a:pPr>
              <a:spcAft>
                <a:spcPts val="500"/>
              </a:spcAft>
              <a:defRPr sz="1800">
                <a:solidFill>
                  <a:srgbClr val="41FF7E"/>
                </a:solidFill>
                <a:latin typeface="VT323"/>
              </a:defRPr>
            </a:pPr>
            <a:r>
              <a:rPr sz="1800">
                <a:solidFill>
                  <a:srgbClr val="41FF7E"/>
                </a:solidFill>
                <a:latin typeface="VT323"/>
              </a:rPr>
              <a:t>AFTER INSERT OR UPDATE OR DELETE ON Pedido</a:t>
            </a:r>
          </a:p>
          <a:p>
            <a:pPr>
              <a:spcAft>
                <a:spcPts val="500"/>
              </a:spcAft>
              <a:defRPr sz="1800">
                <a:solidFill>
                  <a:srgbClr val="41FF7E"/>
                </a:solidFill>
                <a:latin typeface="VT323"/>
              </a:defRPr>
            </a:pPr>
            <a:r>
              <a:rPr sz="1800">
                <a:solidFill>
                  <a:srgbClr val="41FF7E"/>
                </a:solidFill>
                <a:latin typeface="VT323"/>
              </a:rPr>
              <a:t>DECLARE</a:t>
            </a:r>
          </a:p>
          <a:p>
            <a:pPr>
              <a:spcAft>
                <a:spcPts val="500"/>
              </a:spcAft>
              <a:defRPr sz="1800">
                <a:solidFill>
                  <a:srgbClr val="41FF7E"/>
                </a:solidFill>
                <a:latin typeface="VT323"/>
              </a:defRPr>
            </a:pPr>
            <a:r>
              <a:rPr sz="1800">
                <a:solidFill>
                  <a:srgbClr val="41FF7E"/>
                </a:solidFill>
                <a:latin typeface="VT323"/>
              </a:rPr>
              <a:t>  v_operacion VARCHAR2(10);</a:t>
            </a:r>
          </a:p>
          <a:p>
            <a:pPr>
              <a:spcAft>
                <a:spcPts val="500"/>
              </a:spcAft>
              <a:defRPr sz="1800">
                <a:solidFill>
                  <a:srgbClr val="41FF7E"/>
                </a:solidFill>
                <a:latin typeface="VT323"/>
              </a:defRPr>
            </a:pPr>
            <a:r>
              <a:rPr sz="1800">
                <a:solidFill>
                  <a:srgbClr val="41FF7E"/>
                </a:solidFill>
                <a:latin typeface="VT323"/>
              </a:rPr>
              <a:t>BEGIN</a:t>
            </a:r>
          </a:p>
          <a:p>
            <a:pPr>
              <a:spcAft>
                <a:spcPts val="500"/>
              </a:spcAft>
              <a:defRPr sz="1800">
                <a:solidFill>
                  <a:srgbClr val="41FF7E"/>
                </a:solidFill>
                <a:latin typeface="VT323"/>
              </a:defRPr>
            </a:pPr>
            <a:r>
              <a:rPr sz="1800">
                <a:solidFill>
                  <a:srgbClr val="41FF7E"/>
                </a:solidFill>
                <a:latin typeface="VT323"/>
              </a:rPr>
              <a:t>  IF INSERTING THEN v_operacion := 'INSERT';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783080"/>
            <a:ext cx="3886200" cy="3520440"/>
          </a:xfrm>
          <a:prstGeom prst="roundRect">
            <a:avLst>
              <a:gd name="adj" fmla="val 12000"/>
            </a:avLst>
          </a:prstGeom>
          <a:solidFill>
            <a:srgbClr val="0E0E0E"/>
          </a:solidFill>
          <a:ln w="9525">
            <a:solidFill>
              <a:srgbClr val="E8A317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057400"/>
            <a:ext cx="31089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8A317"/>
                </a:solidFill>
                <a:latin typeface="Press Start 2P"/>
              </a:rPr>
              <a:t>PRUEBA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017520" cy="91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E6E6E6"/>
                </a:solidFill>
                <a:latin typeface="VT323"/>
              </a:rPr>
              <a:t>Antes: 2</a:t>
            </a:r>
            <a:br/>
            <a:r>
              <a:rPr sz="2500" b="1" i="0">
                <a:solidFill>
                  <a:srgbClr val="E6E6E6"/>
                </a:solidFill>
                <a:latin typeface="VT323"/>
              </a:rPr>
              <a:t>Después: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794760"/>
            <a:ext cx="301752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41FF7E"/>
                </a:solidFill>
                <a:latin typeface="VT323"/>
              </a:rPr>
              <a:t>Disparos: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86400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E6E6E6"/>
                </a:solidFill>
                <a:latin typeface="VT323"/>
              </a:rPr>
              <a:t>Un solo UPDATE y el trigger corrió una vez. Si fuera de fila, la diferencia sería mayor.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77724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A9A9A"/>
                </a:solidFill>
                <a:latin typeface="VT323"/>
              </a:rPr>
              <a:t>FAZBEAR PIZZA  •  BDY1103  •  SECCIÓN 003D</a:t>
            </a:r>
          </a:p>
        </p:txBody>
      </p:sp>
      <p:sp>
        <p:nvSpPr>
          <p:cNvPr id="9900" name="Piso_990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01" name="Piso_9901"/>
          <p:cNvSpPr/>
          <p:nvPr/>
        </p:nvSpPr>
        <p:spPr>
          <a:xfrm>
            <a:off x="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02" name="Piso_9902"/>
          <p:cNvSpPr/>
          <p:nvPr/>
        </p:nvSpPr>
        <p:spPr>
          <a:xfrm>
            <a:off x="58521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03" name="Piso_9903"/>
          <p:cNvSpPr/>
          <p:nvPr/>
        </p:nvSpPr>
        <p:spPr>
          <a:xfrm>
            <a:off x="117043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04" name="Piso_9904"/>
          <p:cNvSpPr/>
          <p:nvPr/>
        </p:nvSpPr>
        <p:spPr>
          <a:xfrm>
            <a:off x="175564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05" name="Piso_9905"/>
          <p:cNvSpPr/>
          <p:nvPr/>
        </p:nvSpPr>
        <p:spPr>
          <a:xfrm>
            <a:off x="234086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06" name="Piso_9906"/>
          <p:cNvSpPr/>
          <p:nvPr/>
        </p:nvSpPr>
        <p:spPr>
          <a:xfrm>
            <a:off x="292608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07" name="Piso_9907"/>
          <p:cNvSpPr/>
          <p:nvPr/>
        </p:nvSpPr>
        <p:spPr>
          <a:xfrm>
            <a:off x="351129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08" name="Piso_9908"/>
          <p:cNvSpPr/>
          <p:nvPr/>
        </p:nvSpPr>
        <p:spPr>
          <a:xfrm>
            <a:off x="409651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09" name="Piso_9909"/>
          <p:cNvSpPr/>
          <p:nvPr/>
        </p:nvSpPr>
        <p:spPr>
          <a:xfrm>
            <a:off x="468172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10" name="Piso_9910"/>
          <p:cNvSpPr/>
          <p:nvPr/>
        </p:nvSpPr>
        <p:spPr>
          <a:xfrm>
            <a:off x="526694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11" name="Piso_9911"/>
          <p:cNvSpPr/>
          <p:nvPr/>
        </p:nvSpPr>
        <p:spPr>
          <a:xfrm>
            <a:off x="585216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12" name="Piso_9912"/>
          <p:cNvSpPr/>
          <p:nvPr/>
        </p:nvSpPr>
        <p:spPr>
          <a:xfrm>
            <a:off x="643737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13" name="Piso_9913"/>
          <p:cNvSpPr/>
          <p:nvPr/>
        </p:nvSpPr>
        <p:spPr>
          <a:xfrm>
            <a:off x="702259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14" name="Piso_9914"/>
          <p:cNvSpPr/>
          <p:nvPr/>
        </p:nvSpPr>
        <p:spPr>
          <a:xfrm>
            <a:off x="760780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15" name="Piso_9915"/>
          <p:cNvSpPr/>
          <p:nvPr/>
        </p:nvSpPr>
        <p:spPr>
          <a:xfrm>
            <a:off x="819302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16" name="Piso_9916"/>
          <p:cNvSpPr/>
          <p:nvPr/>
        </p:nvSpPr>
        <p:spPr>
          <a:xfrm>
            <a:off x="877824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17" name="Piso_9917"/>
          <p:cNvSpPr/>
          <p:nvPr/>
        </p:nvSpPr>
        <p:spPr>
          <a:xfrm>
            <a:off x="936345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18" name="Piso_9918"/>
          <p:cNvSpPr/>
          <p:nvPr/>
        </p:nvSpPr>
        <p:spPr>
          <a:xfrm>
            <a:off x="994867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19" name="Piso_9919"/>
          <p:cNvSpPr/>
          <p:nvPr/>
        </p:nvSpPr>
        <p:spPr>
          <a:xfrm>
            <a:off x="1053388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20" name="Piso_9920"/>
          <p:cNvSpPr/>
          <p:nvPr/>
        </p:nvSpPr>
        <p:spPr>
          <a:xfrm>
            <a:off x="1111910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9921" name="Piso_9921"/>
          <p:cNvSpPr/>
          <p:nvPr/>
        </p:nvSpPr>
        <p:spPr>
          <a:xfrm>
            <a:off x="1170432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771" name="HUD_Cam"/>
          <p:cNvSpPr txBox="1"/>
          <p:nvPr/>
        </p:nvSpPr>
        <p:spPr>
          <a:xfrm>
            <a:off x="8009880" y="329184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E8A317"/>
                </a:solidFill>
                <a:latin typeface="Press Start 2P"/>
              </a:rPr>
              <a:t>CAM 08 · SECURITY OFFICE</a:t>
            </a:r>
          </a:p>
        </p:txBody>
      </p:sp>
      <p:sp>
        <p:nvSpPr>
          <p:cNvPr id="772" name="HUD_Rec"/>
          <p:cNvSpPr txBox="1"/>
          <p:nvPr/>
        </p:nvSpPr>
        <p:spPr>
          <a:xfrm>
            <a:off x="8600000" y="6510528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62828"/>
                </a:solidFill>
                <a:latin typeface="Press Start 2P"/>
              </a:rPr>
              <a:t>REC</a:t>
            </a:r>
            <a:r>
              <a:rPr sz="700" b="1" i="0">
                <a:solidFill>
                  <a:srgbClr val="E8A317"/>
                </a:solidFill>
                <a:latin typeface="Press Start 2P"/>
              </a:rPr>
              <a:t>   12:00 AM</a:t>
            </a:r>
          </a:p>
        </p:txBody>
      </p:sp>
      <p:sp>
        <p:nvSpPr>
          <p:cNvPr id="1082292" name="RecDot"/>
          <p:cNvSpPr/>
          <p:nvPr/>
        </p:nvSpPr>
        <p:spPr>
          <a:xfrm>
            <a:off x="10230000" y="6555000"/>
            <a:ext cx="110000" cy="1100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686" name="Scan0"/>
          <p:cNvSpPr/>
          <p:nvPr/>
        </p:nvSpPr>
        <p:spPr>
          <a:xfrm>
            <a:off x="0" y="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03901" name="Scan1"/>
          <p:cNvSpPr/>
          <p:nvPr/>
        </p:nvSpPr>
        <p:spPr>
          <a:xfrm>
            <a:off x="0" y="6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15796" name="Scan2"/>
          <p:cNvSpPr/>
          <p:nvPr/>
        </p:nvSpPr>
        <p:spPr>
          <a:xfrm>
            <a:off x="0" y="12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62542" name="Scan3"/>
          <p:cNvSpPr/>
          <p:nvPr/>
        </p:nvSpPr>
        <p:spPr>
          <a:xfrm>
            <a:off x="0" y="18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81867" name="Scan4"/>
          <p:cNvSpPr/>
          <p:nvPr/>
        </p:nvSpPr>
        <p:spPr>
          <a:xfrm>
            <a:off x="0" y="24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67779" name="Scan5"/>
          <p:cNvSpPr/>
          <p:nvPr/>
        </p:nvSpPr>
        <p:spPr>
          <a:xfrm>
            <a:off x="0" y="31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69709" name="Scan6"/>
          <p:cNvSpPr/>
          <p:nvPr/>
        </p:nvSpPr>
        <p:spPr>
          <a:xfrm>
            <a:off x="0" y="37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08317" name="Scan7"/>
          <p:cNvSpPr/>
          <p:nvPr/>
        </p:nvSpPr>
        <p:spPr>
          <a:xfrm>
            <a:off x="0" y="43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7029" name="Scan8"/>
          <p:cNvSpPr/>
          <p:nvPr/>
        </p:nvSpPr>
        <p:spPr>
          <a:xfrm>
            <a:off x="0" y="49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46245" name="Scan9"/>
          <p:cNvSpPr/>
          <p:nvPr/>
        </p:nvSpPr>
        <p:spPr>
          <a:xfrm>
            <a:off x="0" y="55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95942" name="Scan10"/>
          <p:cNvSpPr/>
          <p:nvPr/>
        </p:nvSpPr>
        <p:spPr>
          <a:xfrm>
            <a:off x="0" y="62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09118" name="BgGra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F1F1F"/>
              </a:gs>
              <a:gs pos="55000">
                <a:srgbClr val="141414"/>
              </a:gs>
              <a:gs pos="100000">
                <a:srgbClr val="080808"/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432216" name="OjosHalo"/>
          <p:cNvSpPr/>
          <p:nvPr/>
        </p:nvSpPr>
        <p:spPr>
          <a:xfrm>
            <a:off x="9160000" y="4780000"/>
            <a:ext cx="1400000" cy="600000"/>
          </a:xfrm>
          <a:prstGeom prst="ellipse">
            <a:avLst/>
          </a:prstGeom>
          <a:solidFill>
            <a:srgbClr val="E8A317">
              <a:alpha val="1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35617" name="OjoI"/>
          <p:cNvSpPr/>
          <p:nvPr/>
        </p:nvSpPr>
        <p:spPr>
          <a:xfrm>
            <a:off x="9550000" y="4950000"/>
            <a:ext cx="220000" cy="14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0264" name="OjoD"/>
          <p:cNvSpPr/>
          <p:nvPr/>
        </p:nvSpPr>
        <p:spPr>
          <a:xfrm>
            <a:off x="9950000" y="4950000"/>
            <a:ext cx="220000" cy="14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788" name="VigTop"/>
          <p:cNvSpPr/>
          <p:nvPr/>
        </p:nvSpPr>
        <p:spPr>
          <a:xfrm>
            <a:off x="0" y="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873464" name="VigBot"/>
          <p:cNvSpPr/>
          <p:nvPr/>
        </p:nvSpPr>
        <p:spPr>
          <a:xfrm>
            <a:off x="0" y="5358000"/>
            <a:ext cx="12191695" cy="1500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162483" name="VigL"/>
          <p:cNvSpPr/>
          <p:nvPr/>
        </p:nvSpPr>
        <p:spPr>
          <a:xfrm>
            <a:off x="0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1066861" name="VigR"/>
          <p:cNvSpPr/>
          <p:nvPr/>
        </p:nvSpPr>
        <p:spPr>
          <a:xfrm>
            <a:off x="11091695" y="0"/>
            <a:ext cx="1100000" cy="6858000"/>
          </a:xfrm>
          <a:prstGeom prst="rect">
            <a:avLst/>
          </a:prstGeom>
          <a:gradFill>
            <a:gsLst>
              <a:gs pos="0">
                <a:srgbClr val="000000">
                  <a:alpha val="76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</a:gradFill>
          <a:ln>
            <a:noFill/>
          </a:ln>
        </p:spPr>
        <p:txBody>
          <a:bodyPr/>
          <a:lstStyle/>
          <a:p/>
        </p:txBody>
      </p:sp>
      <p:sp>
        <p:nvSpPr>
          <p:cNvPr id="2" name="TextBox 1"/>
          <p:cNvSpPr txBox="1"/>
          <p:nvPr/>
        </p:nvSpPr>
        <p:spPr>
          <a:xfrm>
            <a:off x="594360" y="320040"/>
            <a:ext cx="77724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8A317"/>
                </a:solidFill>
                <a:latin typeface="Press Start 2P"/>
              </a:rPr>
              <a:t>05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E6E6E6"/>
                </a:solidFill>
                <a:latin typeface="Press Start 2P"/>
              </a:rPr>
              <a:t>Conclusión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822960" cy="502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9880" y="32918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9A9A9A"/>
                </a:solidFill>
                <a:latin typeface="Press Start 2P"/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69880" cy="3474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>
              <a:spcAft>
                <a:spcPts val="2300"/>
              </a:spcAft>
            </a:pPr>
            <a:r>
              <a:rPr sz="2800" b="1">
                <a:solidFill>
                  <a:srgbClr val="E8A317"/>
                </a:solidFill>
                <a:latin typeface="VT323"/>
              </a:rPr>
              <a:t>•  </a:t>
            </a:r>
            <a:r>
              <a:rPr sz="2800">
                <a:solidFill>
                  <a:srgbClr val="E6E6E6"/>
                </a:solidFill>
                <a:latin typeface="VT323"/>
              </a:rPr>
              <a:t>Las validaciones quedaron en la base de datos</a:t>
            </a:r>
          </a:p>
          <a:p>
            <a:pPr>
              <a:spcAft>
                <a:spcPts val="2300"/>
              </a:spcAft>
            </a:pPr>
            <a:r>
              <a:rPr sz="2800" b="1">
                <a:solidFill>
                  <a:srgbClr val="E8A317"/>
                </a:solidFill>
                <a:latin typeface="VT323"/>
              </a:rPr>
              <a:t>•  </a:t>
            </a:r>
            <a:r>
              <a:rPr sz="2800">
                <a:solidFill>
                  <a:srgbClr val="E6E6E6"/>
                </a:solidFill>
                <a:latin typeface="VT323"/>
              </a:rPr>
              <a:t>Un pedido cancelado no se reactiva y el stock se controla</a:t>
            </a:r>
          </a:p>
          <a:p>
            <a:pPr>
              <a:spcAft>
                <a:spcPts val="2300"/>
              </a:spcAft>
            </a:pPr>
            <a:r>
              <a:rPr sz="2800" b="1">
                <a:solidFill>
                  <a:srgbClr val="E8A317"/>
                </a:solidFill>
                <a:latin typeface="VT323"/>
              </a:rPr>
              <a:t>•  </a:t>
            </a:r>
            <a:r>
              <a:rPr sz="2800">
                <a:solidFill>
                  <a:srgbClr val="E6E6E6"/>
                </a:solidFill>
                <a:latin typeface="VT323"/>
              </a:rPr>
              <a:t>8 entradas VALID y pruebas verificadas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7772400" cy="2011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A9A9A"/>
                </a:solidFill>
                <a:latin typeface="VT323"/>
              </a:rPr>
              <a:t>FAZBEAR PIZZA  •  BDY1103  •  SECCIÓN 003D</a:t>
            </a:r>
          </a:p>
        </p:txBody>
      </p:sp>
      <p:sp>
        <p:nvSpPr>
          <p:cNvPr id="10000" name="Piso_10000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6E6E6E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01" name="Piso_10001"/>
          <p:cNvSpPr/>
          <p:nvPr/>
        </p:nvSpPr>
        <p:spPr>
          <a:xfrm>
            <a:off x="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02" name="Piso_10002"/>
          <p:cNvSpPr/>
          <p:nvPr/>
        </p:nvSpPr>
        <p:spPr>
          <a:xfrm>
            <a:off x="58521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03" name="Piso_10003"/>
          <p:cNvSpPr/>
          <p:nvPr/>
        </p:nvSpPr>
        <p:spPr>
          <a:xfrm>
            <a:off x="117043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04" name="Piso_10004"/>
          <p:cNvSpPr/>
          <p:nvPr/>
        </p:nvSpPr>
        <p:spPr>
          <a:xfrm>
            <a:off x="175564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05" name="Piso_10005"/>
          <p:cNvSpPr/>
          <p:nvPr/>
        </p:nvSpPr>
        <p:spPr>
          <a:xfrm>
            <a:off x="234086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06" name="Piso_10006"/>
          <p:cNvSpPr/>
          <p:nvPr/>
        </p:nvSpPr>
        <p:spPr>
          <a:xfrm>
            <a:off x="292608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07" name="Piso_10007"/>
          <p:cNvSpPr/>
          <p:nvPr/>
        </p:nvSpPr>
        <p:spPr>
          <a:xfrm>
            <a:off x="351129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08" name="Piso_10008"/>
          <p:cNvSpPr/>
          <p:nvPr/>
        </p:nvSpPr>
        <p:spPr>
          <a:xfrm>
            <a:off x="409651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09" name="Piso_10009"/>
          <p:cNvSpPr/>
          <p:nvPr/>
        </p:nvSpPr>
        <p:spPr>
          <a:xfrm>
            <a:off x="468172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10" name="Piso_10010"/>
          <p:cNvSpPr/>
          <p:nvPr/>
        </p:nvSpPr>
        <p:spPr>
          <a:xfrm>
            <a:off x="526694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11" name="Piso_10011"/>
          <p:cNvSpPr/>
          <p:nvPr/>
        </p:nvSpPr>
        <p:spPr>
          <a:xfrm>
            <a:off x="585216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12" name="Piso_10012"/>
          <p:cNvSpPr/>
          <p:nvPr/>
        </p:nvSpPr>
        <p:spPr>
          <a:xfrm>
            <a:off x="643737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13" name="Piso_10013"/>
          <p:cNvSpPr/>
          <p:nvPr/>
        </p:nvSpPr>
        <p:spPr>
          <a:xfrm>
            <a:off x="702259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14" name="Piso_10014"/>
          <p:cNvSpPr/>
          <p:nvPr/>
        </p:nvSpPr>
        <p:spPr>
          <a:xfrm>
            <a:off x="760780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15" name="Piso_10015"/>
          <p:cNvSpPr/>
          <p:nvPr/>
        </p:nvSpPr>
        <p:spPr>
          <a:xfrm>
            <a:off x="819302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16" name="Piso_10016"/>
          <p:cNvSpPr/>
          <p:nvPr/>
        </p:nvSpPr>
        <p:spPr>
          <a:xfrm>
            <a:off x="877824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17" name="Piso_10017"/>
          <p:cNvSpPr/>
          <p:nvPr/>
        </p:nvSpPr>
        <p:spPr>
          <a:xfrm>
            <a:off x="9363456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18" name="Piso_10018"/>
          <p:cNvSpPr/>
          <p:nvPr/>
        </p:nvSpPr>
        <p:spPr>
          <a:xfrm>
            <a:off x="9948672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19" name="Piso_10019"/>
          <p:cNvSpPr/>
          <p:nvPr/>
        </p:nvSpPr>
        <p:spPr>
          <a:xfrm>
            <a:off x="10533888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20" name="Piso_10020"/>
          <p:cNvSpPr/>
          <p:nvPr/>
        </p:nvSpPr>
        <p:spPr>
          <a:xfrm>
            <a:off x="11119104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021" name="Piso_10021"/>
          <p:cNvSpPr/>
          <p:nvPr/>
        </p:nvSpPr>
        <p:spPr>
          <a:xfrm>
            <a:off x="11704320" y="6711696"/>
            <a:ext cx="292608" cy="146304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771" name="HUD_Cam"/>
          <p:cNvSpPr txBox="1"/>
          <p:nvPr/>
        </p:nvSpPr>
        <p:spPr>
          <a:xfrm>
            <a:off x="8009880" y="329184"/>
            <a:ext cx="2400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E8A317"/>
                </a:solidFill>
                <a:latin typeface="Press Start 2P"/>
              </a:rPr>
              <a:t>CAM 09 · SHOW STAGE</a:t>
            </a:r>
          </a:p>
        </p:txBody>
      </p:sp>
      <p:sp>
        <p:nvSpPr>
          <p:cNvPr id="772" name="HUD_Rec"/>
          <p:cNvSpPr txBox="1"/>
          <p:nvPr/>
        </p:nvSpPr>
        <p:spPr>
          <a:xfrm>
            <a:off x="8600000" y="6510528"/>
            <a:ext cx="3000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 i="0">
                <a:solidFill>
                  <a:srgbClr val="C62828"/>
                </a:solidFill>
                <a:latin typeface="Press Start 2P"/>
              </a:rPr>
              <a:t>REC</a:t>
            </a:r>
            <a:r>
              <a:rPr sz="700" b="1" i="0">
                <a:solidFill>
                  <a:srgbClr val="E8A317"/>
                </a:solidFill>
                <a:latin typeface="Press Start 2P"/>
              </a:rPr>
              <a:t>   12:00 AM</a:t>
            </a:r>
          </a:p>
        </p:txBody>
      </p:sp>
      <p:sp>
        <p:nvSpPr>
          <p:cNvPr id="1082292" name="RecDot"/>
          <p:cNvSpPr/>
          <p:nvPr/>
        </p:nvSpPr>
        <p:spPr>
          <a:xfrm>
            <a:off x="10230000" y="6555000"/>
            <a:ext cx="110000" cy="1100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7686" name="Scan0"/>
          <p:cNvSpPr/>
          <p:nvPr/>
        </p:nvSpPr>
        <p:spPr>
          <a:xfrm>
            <a:off x="0" y="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03901" name="Scan1"/>
          <p:cNvSpPr/>
          <p:nvPr/>
        </p:nvSpPr>
        <p:spPr>
          <a:xfrm>
            <a:off x="0" y="6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15796" name="Scan2"/>
          <p:cNvSpPr/>
          <p:nvPr/>
        </p:nvSpPr>
        <p:spPr>
          <a:xfrm>
            <a:off x="0" y="12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862542" name="Scan3"/>
          <p:cNvSpPr/>
          <p:nvPr/>
        </p:nvSpPr>
        <p:spPr>
          <a:xfrm>
            <a:off x="0" y="18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581867" name="Scan4"/>
          <p:cNvSpPr/>
          <p:nvPr/>
        </p:nvSpPr>
        <p:spPr>
          <a:xfrm>
            <a:off x="0" y="24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67779" name="Scan5"/>
          <p:cNvSpPr/>
          <p:nvPr/>
        </p:nvSpPr>
        <p:spPr>
          <a:xfrm>
            <a:off x="0" y="31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69709" name="Scan6"/>
          <p:cNvSpPr/>
          <p:nvPr/>
        </p:nvSpPr>
        <p:spPr>
          <a:xfrm>
            <a:off x="0" y="372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408317" name="Scan7"/>
          <p:cNvSpPr/>
          <p:nvPr/>
        </p:nvSpPr>
        <p:spPr>
          <a:xfrm>
            <a:off x="0" y="434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07029" name="Scan8"/>
          <p:cNvSpPr/>
          <p:nvPr/>
        </p:nvSpPr>
        <p:spPr>
          <a:xfrm>
            <a:off x="0" y="496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746245" name="Scan9"/>
          <p:cNvSpPr/>
          <p:nvPr/>
        </p:nvSpPr>
        <p:spPr>
          <a:xfrm>
            <a:off x="0" y="558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95942" name="Scan10"/>
          <p:cNvSpPr/>
          <p:nvPr/>
        </p:nvSpPr>
        <p:spPr>
          <a:xfrm>
            <a:off x="0" y="6200000"/>
            <a:ext cx="12191695" cy="9525"/>
          </a:xfrm>
          <a:prstGeom prst="rect">
            <a:avLst/>
          </a:prstGeom>
          <a:solidFill>
            <a:srgbClr val="000000">
              <a:alpha val="26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A1A1A"/>
      </a:dk2>
      <a:lt2>
        <a:srgbClr val="E6E6E6"/>
      </a:lt2>
      <a:accent1>
        <a:srgbClr val="41FF7E"/>
      </a:accent1>
      <a:accent2>
        <a:srgbClr val="C62828"/>
      </a:accent2>
      <a:accent3>
        <a:srgbClr val="E8A317"/>
      </a:accent3>
      <a:accent4>
        <a:srgbClr val="C62828"/>
      </a:accent4>
      <a:accent5>
        <a:srgbClr val="9A9A9A"/>
      </a:accent5>
      <a:accent6>
        <a:srgbClr val="41FF7E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Fazbear Pizza — Gestión operativa en PL/SQL</dc:title>
  <dc:subject>BDY1103 · Evaluación Parcial 2 · Exposición speedrun</dc:subject>
  <dc:creator>Vicente Placencia, Diego Díaz, Gabriel Vargas</dc:creator>
  <cp:keywords>PL/SQL, Oracle, Fazbear Pizza, BDY1103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